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602" r:id="rId3"/>
    <p:sldId id="603" r:id="rId4"/>
    <p:sldId id="604" r:id="rId5"/>
    <p:sldId id="605" r:id="rId6"/>
    <p:sldId id="610" r:id="rId7"/>
    <p:sldId id="606" r:id="rId8"/>
    <p:sldId id="607" r:id="rId9"/>
    <p:sldId id="608" r:id="rId10"/>
    <p:sldId id="582" r:id="rId11"/>
    <p:sldId id="583" r:id="rId12"/>
    <p:sldId id="584" r:id="rId13"/>
    <p:sldId id="585" r:id="rId14"/>
    <p:sldId id="586" r:id="rId15"/>
    <p:sldId id="587" r:id="rId16"/>
    <p:sldId id="596" r:id="rId17"/>
    <p:sldId id="588" r:id="rId18"/>
    <p:sldId id="589" r:id="rId19"/>
    <p:sldId id="590" r:id="rId20"/>
    <p:sldId id="591" r:id="rId21"/>
    <p:sldId id="592" r:id="rId22"/>
    <p:sldId id="593" r:id="rId23"/>
    <p:sldId id="611" r:id="rId24"/>
    <p:sldId id="612" r:id="rId25"/>
    <p:sldId id="613" r:id="rId26"/>
    <p:sldId id="594" r:id="rId27"/>
    <p:sldId id="597" r:id="rId28"/>
    <p:sldId id="598" r:id="rId29"/>
    <p:sldId id="599" r:id="rId30"/>
    <p:sldId id="600" r:id="rId31"/>
    <p:sldId id="595" r:id="rId32"/>
    <p:sldId id="544" r:id="rId33"/>
    <p:sldId id="543" r:id="rId34"/>
    <p:sldId id="559" r:id="rId35"/>
    <p:sldId id="546" r:id="rId36"/>
    <p:sldId id="569" r:id="rId37"/>
    <p:sldId id="540" r:id="rId38"/>
    <p:sldId id="541" r:id="rId39"/>
    <p:sldId id="550" r:id="rId40"/>
    <p:sldId id="581" r:id="rId41"/>
    <p:sldId id="560" r:id="rId42"/>
    <p:sldId id="542" r:id="rId43"/>
    <p:sldId id="547" r:id="rId44"/>
    <p:sldId id="548" r:id="rId45"/>
    <p:sldId id="549" r:id="rId46"/>
    <p:sldId id="551" r:id="rId47"/>
    <p:sldId id="553" r:id="rId48"/>
    <p:sldId id="564" r:id="rId49"/>
    <p:sldId id="578" r:id="rId50"/>
    <p:sldId id="554" r:id="rId51"/>
    <p:sldId id="572" r:id="rId52"/>
    <p:sldId id="555" r:id="rId53"/>
    <p:sldId id="556" r:id="rId54"/>
    <p:sldId id="561" r:id="rId55"/>
    <p:sldId id="563" r:id="rId56"/>
    <p:sldId id="552" r:id="rId57"/>
    <p:sldId id="579" r:id="rId58"/>
    <p:sldId id="562" r:id="rId59"/>
    <p:sldId id="517" r:id="rId60"/>
    <p:sldId id="558" r:id="rId61"/>
    <p:sldId id="601"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parina, Katya (PG/R - Economics)" initials="OK(-E" lastIdx="1" clrIdx="0">
    <p:extLst>
      <p:ext uri="{19B8F6BF-5375-455C-9EA6-DF929625EA0E}">
        <p15:presenceInfo xmlns:p15="http://schemas.microsoft.com/office/powerpoint/2012/main" userId="S-1-5-21-1844237615-1390067357-682003330-3705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96433" autoAdjust="0"/>
  </p:normalViewPr>
  <p:slideViewPr>
    <p:cSldViewPr snapToGrid="0" showGuides="1">
      <p:cViewPr varScale="1">
        <p:scale>
          <a:sx n="54" d="100"/>
          <a:sy n="54" d="100"/>
        </p:scale>
        <p:origin x="814" y="14"/>
      </p:cViewPr>
      <p:guideLst>
        <p:guide orient="horz" pos="2137"/>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698"/>
    </p:cViewPr>
  </p:sorterViewPr>
  <p:notesViewPr>
    <p:cSldViewPr snapToGrid="0" showGuides="1">
      <p:cViewPr varScale="1">
        <p:scale>
          <a:sx n="86" d="100"/>
          <a:sy n="86" d="100"/>
        </p:scale>
        <p:origin x="2928"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E92E5B-30F8-4110-8893-602B8671BE6F}" type="datetimeFigureOut">
              <a:rPr lang="en-GB" smtClean="0"/>
              <a:t>03/11/2020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33407D-777B-4BD8-8F62-0C8A318F241C}" type="slidenum">
              <a:rPr lang="en-GB" smtClean="0"/>
              <a:t>‹#›</a:t>
            </a:fld>
            <a:endParaRPr lang="en-GB"/>
          </a:p>
        </p:txBody>
      </p:sp>
    </p:spTree>
    <p:extLst>
      <p:ext uri="{BB962C8B-B14F-4D97-AF65-F5344CB8AC3E}">
        <p14:creationId xmlns:p14="http://schemas.microsoft.com/office/powerpoint/2010/main" val="653640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933407D-777B-4BD8-8F62-0C8A318F241C}" type="slidenum">
              <a:rPr lang="en-GB" smtClean="0"/>
              <a:t>59</a:t>
            </a:fld>
            <a:endParaRPr lang="en-GB"/>
          </a:p>
        </p:txBody>
      </p:sp>
    </p:spTree>
    <p:extLst>
      <p:ext uri="{BB962C8B-B14F-4D97-AF65-F5344CB8AC3E}">
        <p14:creationId xmlns:p14="http://schemas.microsoft.com/office/powerpoint/2010/main" val="1530799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6599A163-BF82-412A-8617-91F2105F8FDF}" type="datetimeFigureOut">
              <a:rPr lang="en-GB" smtClean="0"/>
              <a:t>03/11/2020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4014269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99A163-BF82-412A-8617-91F2105F8FDF}" type="datetimeFigureOut">
              <a:rPr lang="en-GB" smtClean="0"/>
              <a:t>03/11/2020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2731189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99A163-BF82-412A-8617-91F2105F8FDF}" type="datetimeFigureOut">
              <a:rPr lang="en-GB" smtClean="0"/>
              <a:t>03/11/2020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DFCEC59-F48A-4BDF-88D9-151F31B3C44B}" type="slidenum">
              <a:rPr lang="en-GB" smtClean="0"/>
              <a:t>‹#›</a:t>
            </a:fld>
            <a:endParaRPr lang="en-GB"/>
          </a:p>
        </p:txBody>
      </p:sp>
      <p:grpSp>
        <p:nvGrpSpPr>
          <p:cNvPr id="7" name="Group 6"/>
          <p:cNvGrpSpPr/>
          <p:nvPr userDrawn="1"/>
        </p:nvGrpSpPr>
        <p:grpSpPr>
          <a:xfrm>
            <a:off x="347241" y="1538234"/>
            <a:ext cx="11844759" cy="11575"/>
            <a:chOff x="347241" y="1690688"/>
            <a:chExt cx="11844759" cy="11575"/>
          </a:xfrm>
        </p:grpSpPr>
        <p:cxnSp>
          <p:nvCxnSpPr>
            <p:cNvPr id="8" name="Straight Connector 7"/>
            <p:cNvCxnSpPr/>
            <p:nvPr/>
          </p:nvCxnSpPr>
          <p:spPr>
            <a:xfrm>
              <a:off x="347241" y="1690688"/>
              <a:ext cx="11844759" cy="11575"/>
            </a:xfrm>
            <a:prstGeom prst="line">
              <a:avLst/>
            </a:prstGeom>
            <a:ln w="50800">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V="1">
              <a:off x="347241" y="1690688"/>
              <a:ext cx="243068" cy="1"/>
            </a:xfrm>
            <a:prstGeom prst="line">
              <a:avLst/>
            </a:prstGeom>
            <a:ln w="50800">
              <a:solidFill>
                <a:srgbClr val="FF0000"/>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416883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99A163-BF82-412A-8617-91F2105F8FDF}" type="datetimeFigureOut">
              <a:rPr lang="en-GB" smtClean="0"/>
              <a:t>03/11/2020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2416599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599A163-BF82-412A-8617-91F2105F8FDF}" type="datetimeFigureOut">
              <a:rPr lang="en-GB" smtClean="0"/>
              <a:t>03/11/2020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1342746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599A163-BF82-412A-8617-91F2105F8FDF}" type="datetimeFigureOut">
              <a:rPr lang="en-GB" smtClean="0"/>
              <a:t>03/11/2020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DFCEC59-F48A-4BDF-88D9-151F31B3C44B}" type="slidenum">
              <a:rPr lang="en-GB" smtClean="0"/>
              <a:t>‹#›</a:t>
            </a:fld>
            <a:endParaRPr lang="en-GB"/>
          </a:p>
        </p:txBody>
      </p:sp>
      <p:grpSp>
        <p:nvGrpSpPr>
          <p:cNvPr id="8" name="Group 7"/>
          <p:cNvGrpSpPr/>
          <p:nvPr userDrawn="1"/>
        </p:nvGrpSpPr>
        <p:grpSpPr>
          <a:xfrm>
            <a:off x="347241" y="1538234"/>
            <a:ext cx="11844759" cy="11575"/>
            <a:chOff x="347241" y="1690688"/>
            <a:chExt cx="11844759" cy="11575"/>
          </a:xfrm>
        </p:grpSpPr>
        <p:cxnSp>
          <p:nvCxnSpPr>
            <p:cNvPr id="9" name="Straight Connector 8"/>
            <p:cNvCxnSpPr/>
            <p:nvPr/>
          </p:nvCxnSpPr>
          <p:spPr>
            <a:xfrm>
              <a:off x="347241" y="1690688"/>
              <a:ext cx="11844759" cy="11575"/>
            </a:xfrm>
            <a:prstGeom prst="line">
              <a:avLst/>
            </a:prstGeom>
            <a:ln w="50800">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flipV="1">
              <a:off x="347241" y="1690688"/>
              <a:ext cx="243068" cy="1"/>
            </a:xfrm>
            <a:prstGeom prst="line">
              <a:avLst/>
            </a:prstGeom>
            <a:ln w="50800">
              <a:solidFill>
                <a:srgbClr val="FF0000"/>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9709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599A163-BF82-412A-8617-91F2105F8FDF}" type="datetimeFigureOut">
              <a:rPr lang="en-GB" smtClean="0"/>
              <a:t>03/11/2020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DFCEC59-F48A-4BDF-88D9-151F31B3C44B}" type="slidenum">
              <a:rPr lang="en-GB" smtClean="0"/>
              <a:t>‹#›</a:t>
            </a:fld>
            <a:endParaRPr lang="en-GB"/>
          </a:p>
        </p:txBody>
      </p:sp>
      <p:grpSp>
        <p:nvGrpSpPr>
          <p:cNvPr id="10" name="Group 9"/>
          <p:cNvGrpSpPr/>
          <p:nvPr userDrawn="1"/>
        </p:nvGrpSpPr>
        <p:grpSpPr>
          <a:xfrm>
            <a:off x="347241" y="1538234"/>
            <a:ext cx="11844759" cy="11575"/>
            <a:chOff x="347241" y="1690688"/>
            <a:chExt cx="11844759" cy="11575"/>
          </a:xfrm>
        </p:grpSpPr>
        <p:cxnSp>
          <p:nvCxnSpPr>
            <p:cNvPr id="11" name="Straight Connector 10"/>
            <p:cNvCxnSpPr/>
            <p:nvPr/>
          </p:nvCxnSpPr>
          <p:spPr>
            <a:xfrm>
              <a:off x="347241" y="1690688"/>
              <a:ext cx="11844759" cy="11575"/>
            </a:xfrm>
            <a:prstGeom prst="line">
              <a:avLst/>
            </a:prstGeom>
            <a:ln w="50800">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flipV="1">
              <a:off x="347241" y="1690688"/>
              <a:ext cx="243068" cy="1"/>
            </a:xfrm>
            <a:prstGeom prst="line">
              <a:avLst/>
            </a:prstGeom>
            <a:ln w="50800">
              <a:solidFill>
                <a:srgbClr val="FF0000"/>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169965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599A163-BF82-412A-8617-91F2105F8FDF}" type="datetimeFigureOut">
              <a:rPr lang="en-GB" smtClean="0"/>
              <a:t>03/11/2020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1833347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99A163-BF82-412A-8617-91F2105F8FDF}" type="datetimeFigureOut">
              <a:rPr lang="en-GB" smtClean="0"/>
              <a:t>03/11/2020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3855872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99A163-BF82-412A-8617-91F2105F8FDF}" type="datetimeFigureOut">
              <a:rPr lang="en-GB" smtClean="0"/>
              <a:t>03/11/2020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3382397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99A163-BF82-412A-8617-91F2105F8FDF}" type="datetimeFigureOut">
              <a:rPr lang="en-GB" smtClean="0"/>
              <a:t>03/11/2020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2787148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99A163-BF82-412A-8617-91F2105F8FDF}" type="datetimeFigureOut">
              <a:rPr lang="en-GB" smtClean="0"/>
              <a:t>03/11/2020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4280018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99A163-BF82-412A-8617-91F2105F8FDF}" type="datetimeFigureOut">
              <a:rPr lang="en-GB" smtClean="0"/>
              <a:t>03/11/2020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28360238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nhaltsfolie 1">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endParaRPr lang="de-DE" dirty="0"/>
          </a:p>
        </p:txBody>
      </p:sp>
      <p:sp>
        <p:nvSpPr>
          <p:cNvPr id="7" name="Textplatzhalter 6"/>
          <p:cNvSpPr>
            <a:spLocks noGrp="1"/>
          </p:cNvSpPr>
          <p:nvPr>
            <p:ph type="body" sz="quarter" idx="13"/>
          </p:nvPr>
        </p:nvSpPr>
        <p:spPr>
          <a:xfrm>
            <a:off x="1680000" y="1080000"/>
            <a:ext cx="9955200" cy="50436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3" name="Textplatzhalter 12"/>
          <p:cNvSpPr>
            <a:spLocks noGrp="1"/>
          </p:cNvSpPr>
          <p:nvPr>
            <p:ph type="body" sz="quarter" idx="14"/>
          </p:nvPr>
        </p:nvSpPr>
        <p:spPr>
          <a:xfrm>
            <a:off x="203200" y="230400"/>
            <a:ext cx="914400" cy="687600"/>
          </a:xfrm>
        </p:spPr>
        <p:txBody>
          <a:bodyPr/>
          <a:lstStyle>
            <a:lvl1pPr marL="0" indent="0" algn="r">
              <a:spcBef>
                <a:spcPts val="2000"/>
              </a:spcBef>
              <a:spcAft>
                <a:spcPts val="0"/>
              </a:spcAft>
              <a:buNone/>
              <a:defRPr sz="3600">
                <a:solidFill>
                  <a:schemeClr val="bg1"/>
                </a:solidFill>
                <a:latin typeface="+mn-lt"/>
              </a:defRPr>
            </a:lvl1pPr>
          </a:lstStyle>
          <a:p>
            <a:pPr lvl="0"/>
            <a:r>
              <a:rPr lang="de-DE" dirty="0"/>
              <a:t>Textmasterformate durch Klicken bearbeiten</a:t>
            </a:r>
          </a:p>
        </p:txBody>
      </p:sp>
      <p:sp>
        <p:nvSpPr>
          <p:cNvPr id="5" name="Fußzeilenplatzhalter 4"/>
          <p:cNvSpPr>
            <a:spLocks noGrp="1"/>
          </p:cNvSpPr>
          <p:nvPr>
            <p:ph type="ftr" sz="quarter" idx="15"/>
          </p:nvPr>
        </p:nvSpPr>
        <p:spPr/>
        <p:txBody>
          <a:bodyPr/>
          <a:lstStyle>
            <a:lvl1pPr>
              <a:defRPr/>
            </a:lvl1pPr>
          </a:lstStyle>
          <a:p>
            <a:pPr>
              <a:defRPr/>
            </a:pPr>
            <a:r>
              <a:rPr lang="de-DE"/>
              <a:t>Titel und Untertitel </a:t>
            </a:r>
          </a:p>
        </p:txBody>
      </p:sp>
      <p:sp>
        <p:nvSpPr>
          <p:cNvPr id="6" name="Datumsplatzhalter 5"/>
          <p:cNvSpPr>
            <a:spLocks noGrp="1"/>
          </p:cNvSpPr>
          <p:nvPr>
            <p:ph type="dt" sz="half" idx="16"/>
          </p:nvPr>
        </p:nvSpPr>
        <p:spPr/>
        <p:txBody>
          <a:bodyPr/>
          <a:lstStyle>
            <a:lvl1pPr>
              <a:defRPr/>
            </a:lvl1pPr>
          </a:lstStyle>
          <a:p>
            <a:pPr>
              <a:defRPr/>
            </a:pPr>
            <a:r>
              <a:rPr lang="de-DE"/>
              <a:t>Name + Datum (über Kopf- und Fußleiste einstellen)</a:t>
            </a:r>
          </a:p>
        </p:txBody>
      </p:sp>
      <p:sp>
        <p:nvSpPr>
          <p:cNvPr id="8" name="Foliennummernplatzhalter 9"/>
          <p:cNvSpPr>
            <a:spLocks noGrp="1"/>
          </p:cNvSpPr>
          <p:nvPr>
            <p:ph type="sldNum" sz="quarter" idx="17"/>
          </p:nvPr>
        </p:nvSpPr>
        <p:spPr/>
        <p:txBody>
          <a:bodyPr/>
          <a:lstStyle>
            <a:lvl1pPr>
              <a:defRPr/>
            </a:lvl1pPr>
          </a:lstStyle>
          <a:p>
            <a:pPr>
              <a:defRPr/>
            </a:pPr>
            <a:fld id="{D2AD5FE4-5AA4-4D29-BF31-1023E7065829}" type="slidenum">
              <a:rPr lang="de-DE"/>
              <a:pPr>
                <a:defRPr/>
              </a:pPr>
              <a:t>‹#›</a:t>
            </a:fld>
            <a:endParaRPr lang="de-DE" dirty="0"/>
          </a:p>
        </p:txBody>
      </p:sp>
    </p:spTree>
    <p:extLst>
      <p:ext uri="{BB962C8B-B14F-4D97-AF65-F5344CB8AC3E}">
        <p14:creationId xmlns:p14="http://schemas.microsoft.com/office/powerpoint/2010/main" val="1579031800"/>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99A163-BF82-412A-8617-91F2105F8FDF}" type="datetimeFigureOut">
              <a:rPr lang="en-GB" smtClean="0"/>
              <a:t>03/11/2020</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FCEC59-F48A-4BDF-88D9-151F31B3C44B}" type="slidenum">
              <a:rPr lang="en-GB" smtClean="0"/>
              <a:t>‹#›</a:t>
            </a:fld>
            <a:endParaRPr lang="en-GB"/>
          </a:p>
        </p:txBody>
      </p:sp>
    </p:spTree>
    <p:extLst>
      <p:ext uri="{BB962C8B-B14F-4D97-AF65-F5344CB8AC3E}">
        <p14:creationId xmlns:p14="http://schemas.microsoft.com/office/powerpoint/2010/main" val="2999683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61" r:id="rId6"/>
    <p:sldLayoutId id="2147483653" r:id="rId7"/>
    <p:sldLayoutId id="2147483654" r:id="rId8"/>
    <p:sldLayoutId id="2147483655" r:id="rId9"/>
    <p:sldLayoutId id="2147483656" r:id="rId10"/>
    <p:sldLayoutId id="2147483657" r:id="rId11"/>
    <p:sldLayoutId id="2147483658" r:id="rId12"/>
    <p:sldLayoutId id="2147483659"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bbc.com/news/health-24525584" TargetMode="External"/><Relationship Id="rId7" Type="http://schemas.openxmlformats.org/officeDocument/2006/relationships/hyperlink" Target="https://www.ft.com/content/1e390ac6-7e2c-11ea-8fdb-7ec06edeef84" TargetMode="External"/><Relationship Id="rId2" Type="http://schemas.openxmlformats.org/officeDocument/2006/relationships/hyperlink" Target="http://news.bbc.co.uk/2/hi/health/967169.stm#sa-link_location=story-body&amp;intlink_from_url=https%3A%2F%2Fwww.bbc.com%2Fnews%2Fhealth-24525584&amp;intlink_ts=1586390610802-sa" TargetMode="External"/><Relationship Id="rId1" Type="http://schemas.openxmlformats.org/officeDocument/2006/relationships/slideLayout" Target="../slideLayouts/slideLayout2.xml"/><Relationship Id="rId6" Type="http://schemas.openxmlformats.org/officeDocument/2006/relationships/hyperlink" Target="https://www.reuters.com/article/us-flu-h1n1-pandemic-idUSBRE90O0T720130125" TargetMode="External"/><Relationship Id="rId5" Type="http://schemas.openxmlformats.org/officeDocument/2006/relationships/hyperlink" Target="https://www.who.int/influenza/human_animal_interface/2020_01_20_tableH5N1.pdf?ua=1" TargetMode="External"/><Relationship Id="rId4" Type="http://schemas.openxmlformats.org/officeDocument/2006/relationships/hyperlink" Target="http://news.bbc.co.uk/2/hi/asia-pacific/4292426.stm"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euromomo.eu/"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newscientist.com/article/2238578-uk-has-enough-intensive-care-units-for-coronavirus-expert-predicts/?mod=article_inline" TargetMode="External"/><Relationship Id="rId2" Type="http://schemas.openxmlformats.org/officeDocument/2006/relationships/hyperlink" Target="https://www.imperial.ac.uk/media/imperial-college/medicine/mrc-gida/2020-03-16-COVID19-Report-9.pdf"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ichpanalytics.imperialcollegehealthpartners.com/t/BDAU/views/YougovCovid-19TrackerLifeSatisfaction-20200622_15961947288210/LifeSatisfaction?:iid=4&amp;:isGuestRedirectFromVizportal=y&amp;:embed=y"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press.princeton.edu/books/hardcover/9780691177892/the-origins-of-happiness" TargetMode="External"/><Relationship Id="rId2" Type="http://schemas.openxmlformats.org/officeDocument/2006/relationships/hyperlink" Target="https://www.nature.com/articles/d41586-020-01003-6" TargetMode="External"/><Relationship Id="rId1" Type="http://schemas.openxmlformats.org/officeDocument/2006/relationships/slideLayout" Target="../slideLayouts/slideLayout2.xml"/><Relationship Id="rId5" Type="http://schemas.openxmlformats.org/officeDocument/2006/relationships/hyperlink" Target="https://doi.org/10.1017/bpp.2019.39" TargetMode="External"/><Relationship Id="rId4" Type="http://schemas.openxmlformats.org/officeDocument/2006/relationships/hyperlink" Target="https://clubtroppo.com.au/2020/06/17/what-kind-of-crowd-are-we-now-seeing-the-5-surprises-in-this-pandemic/"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859"/>
            <a:ext cx="10297212" cy="1238103"/>
          </a:xfrm>
        </p:spPr>
        <p:txBody>
          <a:bodyPr>
            <a:normAutofit fontScale="90000"/>
          </a:bodyPr>
          <a:lstStyle/>
          <a:p>
            <a:r>
              <a:rPr lang="en-AU" b="1" dirty="0"/>
              <a:t>Wellbeing Economics and </a:t>
            </a:r>
            <a:r>
              <a:rPr lang="en-AU" b="1" dirty="0" err="1"/>
              <a:t>Tradeoffs</a:t>
            </a:r>
            <a:r>
              <a:rPr lang="en-AU" b="1" dirty="0"/>
              <a:t> During the Covid-19 </a:t>
            </a:r>
            <a:r>
              <a:rPr lang="en-AU" b="1" dirty="0" smtClean="0"/>
              <a:t>Pandemic</a:t>
            </a:r>
            <a:r>
              <a:rPr lang="en-GB" altLang="en-US" dirty="0" smtClean="0"/>
              <a:t>.</a:t>
            </a:r>
            <a:endParaRPr lang="en-GB" dirty="0"/>
          </a:p>
        </p:txBody>
      </p:sp>
      <p:sp>
        <p:nvSpPr>
          <p:cNvPr id="3" name="Subtitle 2"/>
          <p:cNvSpPr>
            <a:spLocks noGrp="1"/>
          </p:cNvSpPr>
          <p:nvPr>
            <p:ph type="subTitle" idx="1"/>
          </p:nvPr>
        </p:nvSpPr>
        <p:spPr>
          <a:xfrm>
            <a:off x="1524000" y="3982824"/>
            <a:ext cx="9144000" cy="1274975"/>
          </a:xfrm>
        </p:spPr>
        <p:txBody>
          <a:bodyPr/>
          <a:lstStyle/>
          <a:p>
            <a:r>
              <a:rPr lang="en-GB" dirty="0" smtClean="0"/>
              <a:t>Paul </a:t>
            </a:r>
            <a:r>
              <a:rPr lang="en-GB" dirty="0" err="1" smtClean="0"/>
              <a:t>Frijters</a:t>
            </a:r>
            <a:r>
              <a:rPr lang="en-GB" dirty="0" smtClean="0"/>
              <a:t> LSE- Social Policy</a:t>
            </a:r>
            <a:endParaRPr lang="en-GB" dirty="0"/>
          </a:p>
        </p:txBody>
      </p:sp>
    </p:spTree>
    <p:extLst>
      <p:ext uri="{BB962C8B-B14F-4D97-AF65-F5344CB8AC3E}">
        <p14:creationId xmlns:p14="http://schemas.microsoft.com/office/powerpoint/2010/main" val="3476328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751" y="-40227"/>
            <a:ext cx="5161960" cy="1364693"/>
          </a:xfrm>
        </p:spPr>
        <p:txBody>
          <a:bodyPr/>
          <a:lstStyle/>
          <a:p>
            <a:r>
              <a:rPr lang="en-AU" dirty="0" smtClean="0"/>
              <a:t>Pandemics that were </a:t>
            </a:r>
            <a:br>
              <a:rPr lang="en-AU" dirty="0" smtClean="0"/>
            </a:br>
            <a:r>
              <a:rPr lang="en-AU" dirty="0" smtClean="0"/>
              <a:t>Terrible</a:t>
            </a:r>
            <a:endParaRPr lang="en-AU"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579449" y="67174"/>
            <a:ext cx="6114502" cy="6114502"/>
          </a:xfrm>
        </p:spPr>
      </p:pic>
      <p:sp>
        <p:nvSpPr>
          <p:cNvPr id="5" name="TextBox 4"/>
          <p:cNvSpPr txBox="1"/>
          <p:nvPr/>
        </p:nvSpPr>
        <p:spPr>
          <a:xfrm>
            <a:off x="447773" y="6381946"/>
            <a:ext cx="11538408" cy="369332"/>
          </a:xfrm>
          <a:prstGeom prst="rect">
            <a:avLst/>
          </a:prstGeom>
          <a:noFill/>
        </p:spPr>
        <p:txBody>
          <a:bodyPr wrap="square" rtlCol="0">
            <a:spAutoFit/>
          </a:bodyPr>
          <a:lstStyle/>
          <a:p>
            <a:r>
              <a:rPr lang="en-AU" dirty="0" smtClean="0"/>
              <a:t>The plague: the black death that killed half of Europe in the 14</a:t>
            </a:r>
            <a:r>
              <a:rPr lang="en-AU" baseline="30000" dirty="0" smtClean="0"/>
              <a:t>th</a:t>
            </a:r>
            <a:r>
              <a:rPr lang="en-AU" dirty="0" smtClean="0"/>
              <a:t> century. Lock downs didn’t help much as rats spread it.</a:t>
            </a:r>
            <a:endParaRPr lang="en-AU" dirty="0"/>
          </a:p>
        </p:txBody>
      </p:sp>
    </p:spTree>
    <p:extLst>
      <p:ext uri="{BB962C8B-B14F-4D97-AF65-F5344CB8AC3E}">
        <p14:creationId xmlns:p14="http://schemas.microsoft.com/office/powerpoint/2010/main" val="1240207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Pandemics that weren’t </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UK “mad cow diseases” of the 1990s. In </a:t>
            </a:r>
            <a:r>
              <a:rPr lang="en-AU" dirty="0"/>
              <a:t>1999, European Union scientists </a:t>
            </a:r>
            <a:r>
              <a:rPr lang="en-AU" dirty="0">
                <a:hlinkClick r:id="rId2"/>
              </a:rPr>
              <a:t>suggested up to 500,000 people</a:t>
            </a:r>
            <a:r>
              <a:rPr lang="en-AU" dirty="0"/>
              <a:t> could die from the UK mad cow disease. By October 2013, </a:t>
            </a:r>
            <a:r>
              <a:rPr lang="en-AU" dirty="0">
                <a:hlinkClick r:id="rId3"/>
              </a:rPr>
              <a:t>177 deaths</a:t>
            </a:r>
            <a:r>
              <a:rPr lang="en-AU" dirty="0"/>
              <a:t> were recorded from the disease. </a:t>
            </a:r>
            <a:endParaRPr lang="en-AU" dirty="0" smtClean="0"/>
          </a:p>
          <a:p>
            <a:endParaRPr lang="en-AU" dirty="0"/>
          </a:p>
          <a:p>
            <a:r>
              <a:rPr lang="en-AU" dirty="0" smtClean="0"/>
              <a:t>“Avian Flu” of 2000s. In </a:t>
            </a:r>
            <a:r>
              <a:rPr lang="en-AU" dirty="0"/>
              <a:t>2005, the UN’s coordinator David </a:t>
            </a:r>
            <a:r>
              <a:rPr lang="en-AU" dirty="0" err="1"/>
              <a:t>Nabarro</a:t>
            </a:r>
            <a:r>
              <a:rPr lang="en-AU" dirty="0"/>
              <a:t> </a:t>
            </a:r>
            <a:r>
              <a:rPr lang="en-AU" dirty="0">
                <a:hlinkClick r:id="rId4"/>
              </a:rPr>
              <a:t>warned</a:t>
            </a:r>
            <a:r>
              <a:rPr lang="en-AU" dirty="0"/>
              <a:t> between 5 to 150 million people could die from avian flu. The World Health Organization’s official estimates were 2–7.4 million. Only </a:t>
            </a:r>
            <a:r>
              <a:rPr lang="en-AU" dirty="0">
                <a:hlinkClick r:id="rId5"/>
              </a:rPr>
              <a:t>455 people died</a:t>
            </a:r>
            <a:r>
              <a:rPr lang="en-AU" dirty="0"/>
              <a:t> of bird flu from 2003–2019</a:t>
            </a:r>
            <a:r>
              <a:rPr lang="en-AU" dirty="0" smtClean="0"/>
              <a:t>.</a:t>
            </a:r>
          </a:p>
          <a:p>
            <a:endParaRPr lang="en-AU" dirty="0"/>
          </a:p>
          <a:p>
            <a:r>
              <a:rPr lang="en-AU" dirty="0" smtClean="0"/>
              <a:t>Swine flu 2009. The </a:t>
            </a:r>
            <a:r>
              <a:rPr lang="en-AU" dirty="0"/>
              <a:t>feared 1.3% fatality </a:t>
            </a:r>
            <a:r>
              <a:rPr lang="en-AU" dirty="0" smtClean="0"/>
              <a:t>rate turned into an </a:t>
            </a:r>
            <a:r>
              <a:rPr lang="en-AU" dirty="0"/>
              <a:t>actual rate </a:t>
            </a:r>
            <a:r>
              <a:rPr lang="en-AU" dirty="0" smtClean="0"/>
              <a:t>of </a:t>
            </a:r>
            <a:r>
              <a:rPr lang="en-AU" dirty="0">
                <a:hlinkClick r:id="rId6"/>
              </a:rPr>
              <a:t>0.02%</a:t>
            </a:r>
            <a:r>
              <a:rPr lang="en-AU" dirty="0"/>
              <a:t>, </a:t>
            </a:r>
            <a:r>
              <a:rPr lang="en-AU" dirty="0" smtClean="0"/>
              <a:t>In </a:t>
            </a:r>
            <a:r>
              <a:rPr lang="en-AU" dirty="0"/>
              <a:t>the UK, against the “reasonable worst-case scenario” of 65,000 deaths, </a:t>
            </a:r>
            <a:r>
              <a:rPr lang="en-AU" dirty="0">
                <a:hlinkClick r:id="rId7"/>
              </a:rPr>
              <a:t>there were only 457</a:t>
            </a:r>
            <a:r>
              <a:rPr lang="en-AU" dirty="0"/>
              <a:t>. </a:t>
            </a:r>
          </a:p>
          <a:p>
            <a:endParaRPr lang="en-AU" dirty="0"/>
          </a:p>
        </p:txBody>
      </p:sp>
      <p:sp>
        <p:nvSpPr>
          <p:cNvPr id="4" name="TextBox 3"/>
          <p:cNvSpPr txBox="1"/>
          <p:nvPr/>
        </p:nvSpPr>
        <p:spPr>
          <a:xfrm>
            <a:off x="2813901" y="6268825"/>
            <a:ext cx="8003357" cy="646331"/>
          </a:xfrm>
          <a:prstGeom prst="rect">
            <a:avLst/>
          </a:prstGeom>
          <a:noFill/>
        </p:spPr>
        <p:txBody>
          <a:bodyPr wrap="square" rtlCol="0">
            <a:spAutoFit/>
          </a:bodyPr>
          <a:lstStyle/>
          <a:p>
            <a:r>
              <a:rPr lang="en-AU" dirty="0" smtClean="0"/>
              <a:t>Hat tip </a:t>
            </a:r>
            <a:r>
              <a:rPr lang="en-AU" dirty="0"/>
              <a:t>Ramesh Thakur: https://www.lowyinstitute.org/the-interpreter/flattening-economy-costs-lives-livelihoods-and-freedoms-too </a:t>
            </a:r>
          </a:p>
        </p:txBody>
      </p:sp>
    </p:spTree>
    <p:extLst>
      <p:ext uri="{BB962C8B-B14F-4D97-AF65-F5344CB8AC3E}">
        <p14:creationId xmlns:p14="http://schemas.microsoft.com/office/powerpoint/2010/main" val="1207632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5839" y="1134108"/>
            <a:ext cx="11652626" cy="6135794"/>
          </a:xfrm>
        </p:spPr>
      </p:pic>
      <p:sp>
        <p:nvSpPr>
          <p:cNvPr id="2" name="Title 1"/>
          <p:cNvSpPr>
            <a:spLocks noGrp="1"/>
          </p:cNvSpPr>
          <p:nvPr>
            <p:ph type="title"/>
          </p:nvPr>
        </p:nvSpPr>
        <p:spPr>
          <a:xfrm>
            <a:off x="120502" y="27330"/>
            <a:ext cx="11282917" cy="1325563"/>
          </a:xfrm>
        </p:spPr>
        <p:txBody>
          <a:bodyPr/>
          <a:lstStyle/>
          <a:p>
            <a:r>
              <a:rPr lang="en-AU" dirty="0" smtClean="0"/>
              <a:t>Excess mortality deaths in 24 European </a:t>
            </a:r>
            <a:r>
              <a:rPr lang="en-AU" dirty="0" smtClean="0"/>
              <a:t>countries</a:t>
            </a:r>
            <a:endParaRPr lang="en-AU" dirty="0"/>
          </a:p>
        </p:txBody>
      </p:sp>
      <p:sp>
        <p:nvSpPr>
          <p:cNvPr id="9" name="TextBox 8"/>
          <p:cNvSpPr txBox="1"/>
          <p:nvPr/>
        </p:nvSpPr>
        <p:spPr>
          <a:xfrm>
            <a:off x="184298" y="5266660"/>
            <a:ext cx="11724167" cy="1200329"/>
          </a:xfrm>
          <a:prstGeom prst="rect">
            <a:avLst/>
          </a:prstGeom>
          <a:noFill/>
        </p:spPr>
        <p:txBody>
          <a:bodyPr wrap="square" rtlCol="0">
            <a:spAutoFit/>
          </a:bodyPr>
          <a:lstStyle/>
          <a:p>
            <a:r>
              <a:rPr lang="en-AU" dirty="0" smtClean="0"/>
              <a:t>Note 1: the 2020 excess mortality was </a:t>
            </a:r>
            <a:r>
              <a:rPr lang="en-AU" dirty="0" smtClean="0"/>
              <a:t>225,000 </a:t>
            </a:r>
            <a:r>
              <a:rPr lang="en-AU" dirty="0" smtClean="0"/>
              <a:t>higher than baseline and </a:t>
            </a:r>
            <a:r>
              <a:rPr lang="en-AU" dirty="0" smtClean="0"/>
              <a:t>105,000 </a:t>
            </a:r>
            <a:r>
              <a:rPr lang="en-AU" dirty="0" smtClean="0"/>
              <a:t>higher than 2018. Its an excess mortality of about </a:t>
            </a:r>
            <a:r>
              <a:rPr lang="en-AU" dirty="0" smtClean="0"/>
              <a:t>0.07% </a:t>
            </a:r>
            <a:r>
              <a:rPr lang="en-AU" dirty="0" smtClean="0"/>
              <a:t>of the population, or </a:t>
            </a:r>
            <a:r>
              <a:rPr lang="en-AU" dirty="0"/>
              <a:t>4</a:t>
            </a:r>
            <a:r>
              <a:rPr lang="en-AU" dirty="0" smtClean="0"/>
              <a:t> </a:t>
            </a:r>
            <a:r>
              <a:rPr lang="en-AU" dirty="0" smtClean="0"/>
              <a:t>weeks normal mortality.</a:t>
            </a:r>
          </a:p>
          <a:p>
            <a:r>
              <a:rPr lang="en-AU" dirty="0" smtClean="0"/>
              <a:t>Note 2: UK, </a:t>
            </a:r>
            <a:r>
              <a:rPr lang="en-AU" dirty="0" smtClean="0"/>
              <a:t>Sweden. </a:t>
            </a:r>
            <a:r>
              <a:rPr lang="en-AU" dirty="0" smtClean="0"/>
              <a:t>have been back to baseline mortality for over a month now. </a:t>
            </a:r>
          </a:p>
          <a:p>
            <a:r>
              <a:rPr lang="en-AU" dirty="0"/>
              <a:t>Source: </a:t>
            </a:r>
            <a:r>
              <a:rPr lang="en-AU" dirty="0">
                <a:hlinkClick r:id="rId3"/>
              </a:rPr>
              <a:t>https://</a:t>
            </a:r>
            <a:r>
              <a:rPr lang="en-AU" dirty="0" smtClean="0">
                <a:hlinkClick r:id="rId3"/>
              </a:rPr>
              <a:t>www.euromomo.eu</a:t>
            </a:r>
            <a:r>
              <a:rPr lang="en-AU" dirty="0" smtClean="0"/>
              <a:t> fed by official national death statistics.</a:t>
            </a:r>
            <a:endParaRPr lang="en-AU" dirty="0"/>
          </a:p>
        </p:txBody>
      </p:sp>
    </p:spTree>
    <p:extLst>
      <p:ext uri="{BB962C8B-B14F-4D97-AF65-F5344CB8AC3E}">
        <p14:creationId xmlns:p14="http://schemas.microsoft.com/office/powerpoint/2010/main" val="84071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
            <a:ext cx="10515600" cy="758456"/>
          </a:xfrm>
        </p:spPr>
        <p:txBody>
          <a:bodyPr/>
          <a:lstStyle/>
          <a:p>
            <a:r>
              <a:rPr lang="en-AU" sz="4000" dirty="0" smtClean="0"/>
              <a:t>Quick look at </a:t>
            </a:r>
            <a:r>
              <a:rPr lang="en-AU" sz="4000" dirty="0" smtClean="0"/>
              <a:t>UK </a:t>
            </a:r>
            <a:r>
              <a:rPr lang="en-AU" sz="4000" dirty="0" err="1" smtClean="0"/>
              <a:t>covid</a:t>
            </a:r>
            <a:r>
              <a:rPr lang="en-AU" sz="4000" dirty="0" smtClean="0"/>
              <a:t> </a:t>
            </a:r>
            <a:r>
              <a:rPr lang="en-AU" sz="4000" dirty="0" smtClean="0"/>
              <a:t>death </a:t>
            </a:r>
            <a:r>
              <a:rPr lang="en-AU" dirty="0" smtClean="0"/>
              <a:t>tolls</a:t>
            </a:r>
            <a:endParaRPr lang="en-AU" dirty="0"/>
          </a:p>
        </p:txBody>
      </p:sp>
      <p:sp>
        <p:nvSpPr>
          <p:cNvPr id="3" name="Content Placeholder 2"/>
          <p:cNvSpPr>
            <a:spLocks noGrp="1"/>
          </p:cNvSpPr>
          <p:nvPr>
            <p:ph idx="1"/>
          </p:nvPr>
        </p:nvSpPr>
        <p:spPr>
          <a:xfrm>
            <a:off x="0" y="1332613"/>
            <a:ext cx="11412279" cy="5656521"/>
          </a:xfrm>
        </p:spPr>
        <p:txBody>
          <a:bodyPr>
            <a:noAutofit/>
          </a:bodyPr>
          <a:lstStyle/>
          <a:p>
            <a:r>
              <a:rPr lang="en-AU" dirty="0" smtClean="0"/>
              <a:t>Estimated UK </a:t>
            </a:r>
            <a:r>
              <a:rPr lang="en-AU" dirty="0"/>
              <a:t>fatality estimates for Covid-19 were scaled down dramatically by Imperial College London within two weeks, from </a:t>
            </a:r>
            <a:r>
              <a:rPr lang="en-AU" dirty="0">
                <a:hlinkClick r:id="rId2"/>
              </a:rPr>
              <a:t>510,000</a:t>
            </a:r>
            <a:r>
              <a:rPr lang="en-AU" dirty="0"/>
              <a:t> to </a:t>
            </a:r>
            <a:r>
              <a:rPr lang="en-AU" dirty="0">
                <a:hlinkClick r:id="rId3"/>
              </a:rPr>
              <a:t>20,000</a:t>
            </a:r>
            <a:r>
              <a:rPr lang="en-AU" dirty="0"/>
              <a:t> </a:t>
            </a:r>
            <a:r>
              <a:rPr lang="en-AU" dirty="0" smtClean="0"/>
              <a:t>Current is </a:t>
            </a:r>
            <a:r>
              <a:rPr lang="en-AU" b="1" dirty="0" smtClean="0"/>
              <a:t>47,000, </a:t>
            </a:r>
            <a:r>
              <a:rPr lang="en-AU" dirty="0" smtClean="0"/>
              <a:t>or</a:t>
            </a:r>
            <a:r>
              <a:rPr lang="en-AU" b="1" dirty="0" smtClean="0"/>
              <a:t> 0.07%</a:t>
            </a:r>
            <a:r>
              <a:rPr lang="en-AU" dirty="0" smtClean="0"/>
              <a:t>.</a:t>
            </a:r>
          </a:p>
          <a:p>
            <a:r>
              <a:rPr lang="en-AU" dirty="0" smtClean="0"/>
              <a:t>On average, each person dying with covid-19 probably had about </a:t>
            </a:r>
            <a:r>
              <a:rPr lang="en-AU" b="1" dirty="0" smtClean="0"/>
              <a:t>3-5 more happy years left</a:t>
            </a:r>
            <a:r>
              <a:rPr lang="en-AU" dirty="0" smtClean="0"/>
              <a:t>. </a:t>
            </a:r>
            <a:endParaRPr lang="en-AU" dirty="0" smtClean="0"/>
          </a:p>
          <a:p>
            <a:r>
              <a:rPr lang="en-AU" dirty="0" smtClean="0"/>
              <a:t>The WHO in </a:t>
            </a:r>
            <a:r>
              <a:rPr lang="en-AU" b="1" dirty="0" smtClean="0"/>
              <a:t>February</a:t>
            </a:r>
            <a:r>
              <a:rPr lang="en-AU" dirty="0" smtClean="0"/>
              <a:t> put out “case based fatality estimates” of </a:t>
            </a:r>
            <a:r>
              <a:rPr lang="en-AU" b="1" dirty="0" smtClean="0"/>
              <a:t>3-5%. </a:t>
            </a:r>
            <a:r>
              <a:rPr lang="en-AU" dirty="0" smtClean="0"/>
              <a:t>My estimate in March of the infection fatality rate (IFR) was </a:t>
            </a:r>
            <a:r>
              <a:rPr lang="en-AU" b="1" dirty="0" smtClean="0"/>
              <a:t>0.2%</a:t>
            </a:r>
            <a:endParaRPr lang="en-AU" b="1" dirty="0" smtClean="0"/>
          </a:p>
          <a:p>
            <a:r>
              <a:rPr lang="en-AU" dirty="0" smtClean="0"/>
              <a:t>At present, the total recorded world death toll stands at around </a:t>
            </a:r>
            <a:r>
              <a:rPr lang="en-AU" dirty="0" smtClean="0"/>
              <a:t>1.3 million, </a:t>
            </a:r>
            <a:r>
              <a:rPr lang="en-AU" b="1" dirty="0" smtClean="0"/>
              <a:t>0.02%</a:t>
            </a:r>
            <a:r>
              <a:rPr lang="en-AU" dirty="0" smtClean="0"/>
              <a:t> of the world. </a:t>
            </a:r>
            <a:r>
              <a:rPr lang="en-AU" dirty="0" smtClean="0"/>
              <a:t>That is the normal world </a:t>
            </a:r>
            <a:r>
              <a:rPr lang="en-AU" b="1" dirty="0" smtClean="0"/>
              <a:t>birth rate of </a:t>
            </a:r>
            <a:r>
              <a:rPr lang="en-AU" b="1" dirty="0" smtClean="0"/>
              <a:t>four days</a:t>
            </a:r>
            <a:r>
              <a:rPr lang="en-AU" dirty="0" smtClean="0"/>
              <a:t>.</a:t>
            </a:r>
          </a:p>
        </p:txBody>
      </p:sp>
    </p:spTree>
    <p:extLst>
      <p:ext uri="{BB962C8B-B14F-4D97-AF65-F5344CB8AC3E}">
        <p14:creationId xmlns:p14="http://schemas.microsoft.com/office/powerpoint/2010/main" val="1112516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9186" y="152475"/>
            <a:ext cx="10120423" cy="719396"/>
          </a:xfrm>
        </p:spPr>
        <p:txBody>
          <a:bodyPr/>
          <a:lstStyle/>
          <a:p>
            <a:r>
              <a:rPr lang="en-AU" dirty="0" smtClean="0"/>
              <a:t>Current relevance for the UK</a:t>
            </a:r>
            <a:endParaRPr lang="en-AU" dirty="0"/>
          </a:p>
        </p:txBody>
      </p:sp>
      <p:sp>
        <p:nvSpPr>
          <p:cNvPr id="3" name="Content Placeholder 2"/>
          <p:cNvSpPr>
            <a:spLocks noGrp="1"/>
          </p:cNvSpPr>
          <p:nvPr>
            <p:ph idx="1"/>
          </p:nvPr>
        </p:nvSpPr>
        <p:spPr>
          <a:xfrm>
            <a:off x="327836" y="1265642"/>
            <a:ext cx="11793279" cy="5517929"/>
          </a:xfrm>
        </p:spPr>
        <p:txBody>
          <a:bodyPr>
            <a:normAutofit lnSpcReduction="10000"/>
          </a:bodyPr>
          <a:lstStyle/>
          <a:p>
            <a:r>
              <a:rPr lang="en-AU" dirty="0"/>
              <a:t>The worst recorded death toll is the State of New York (0.18%). The </a:t>
            </a:r>
            <a:r>
              <a:rPr lang="en-AU" dirty="0" err="1"/>
              <a:t>Ioaninidis</a:t>
            </a:r>
            <a:r>
              <a:rPr lang="en-AU" dirty="0"/>
              <a:t> estimate at the WHO in </a:t>
            </a:r>
            <a:r>
              <a:rPr lang="en-AU" dirty="0" err="1"/>
              <a:t>Oktober</a:t>
            </a:r>
            <a:r>
              <a:rPr lang="en-AU" dirty="0"/>
              <a:t> is that the </a:t>
            </a:r>
            <a:r>
              <a:rPr lang="en-AU" b="1" dirty="0"/>
              <a:t>IFR for the world is 0.2%.</a:t>
            </a:r>
            <a:r>
              <a:rPr lang="en-AU" dirty="0"/>
              <a:t> That was also </a:t>
            </a:r>
            <a:r>
              <a:rPr lang="en-AU" b="1" dirty="0"/>
              <a:t>my March estimate</a:t>
            </a:r>
            <a:r>
              <a:rPr lang="en-AU" dirty="0" smtClean="0"/>
              <a:t>. The WHO estimate that 10% of the world has now been infected would mean an IFR of </a:t>
            </a:r>
            <a:r>
              <a:rPr lang="en-AU" b="1" dirty="0" smtClean="0"/>
              <a:t>0.15</a:t>
            </a:r>
            <a:r>
              <a:rPr lang="en-AU" dirty="0" smtClean="0"/>
              <a:t>%</a:t>
            </a:r>
          </a:p>
          <a:p>
            <a:r>
              <a:rPr lang="en-AU" dirty="0" smtClean="0"/>
              <a:t>Note that many ‘official’ IFR estimates do not count the asymptomatic as ‘infections’ (which in the UK are 86% of all infections).</a:t>
            </a:r>
            <a:endParaRPr lang="en-AU" dirty="0"/>
          </a:p>
          <a:p>
            <a:r>
              <a:rPr lang="en-AU" dirty="0"/>
              <a:t>Someone infected is now believed to have some persistent immunity for years (via T-cells and B-cells). Only very few get reinfected. </a:t>
            </a:r>
          </a:p>
          <a:p>
            <a:r>
              <a:rPr lang="en-AU" dirty="0"/>
              <a:t>Long-</a:t>
            </a:r>
            <a:r>
              <a:rPr lang="en-AU" dirty="0" err="1"/>
              <a:t>covid</a:t>
            </a:r>
            <a:r>
              <a:rPr lang="en-AU" dirty="0"/>
              <a:t> exists but is a rare occurrence: Adams (2020) estimates less than 50,000 people with neurological damage.  </a:t>
            </a:r>
            <a:endParaRPr lang="en-AU" dirty="0" smtClean="0"/>
          </a:p>
          <a:p>
            <a:endParaRPr lang="en-AU" dirty="0"/>
          </a:p>
          <a:p>
            <a:r>
              <a:rPr lang="en-AU" dirty="0" smtClean="0"/>
              <a:t>This means the UK maximally had </a:t>
            </a:r>
            <a:r>
              <a:rPr lang="en-AU" b="1" dirty="0" smtClean="0"/>
              <a:t>140,000</a:t>
            </a:r>
            <a:r>
              <a:rPr lang="en-AU" dirty="0" smtClean="0"/>
              <a:t> (=0.2%) it could possibly save from </a:t>
            </a:r>
            <a:r>
              <a:rPr lang="en-AU" dirty="0" err="1" smtClean="0"/>
              <a:t>covid</a:t>
            </a:r>
            <a:r>
              <a:rPr lang="en-AU" dirty="0" smtClean="0"/>
              <a:t>. </a:t>
            </a:r>
            <a:endParaRPr lang="en-AU" dirty="0"/>
          </a:p>
          <a:p>
            <a:endParaRPr lang="en-AU" dirty="0"/>
          </a:p>
        </p:txBody>
      </p:sp>
    </p:spTree>
    <p:extLst>
      <p:ext uri="{BB962C8B-B14F-4D97-AF65-F5344CB8AC3E}">
        <p14:creationId xmlns:p14="http://schemas.microsoft.com/office/powerpoint/2010/main" val="1344236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979" y="49327"/>
            <a:ext cx="10515600" cy="1325563"/>
          </a:xfrm>
        </p:spPr>
        <p:txBody>
          <a:bodyPr/>
          <a:lstStyle/>
          <a:p>
            <a:r>
              <a:rPr lang="en-AU" dirty="0" smtClean="0"/>
              <a:t>Some sense of scale of other effects.</a:t>
            </a:r>
            <a:endParaRPr lang="en-AU" dirty="0"/>
          </a:p>
        </p:txBody>
      </p:sp>
      <p:sp>
        <p:nvSpPr>
          <p:cNvPr id="3" name="Content Placeholder 2"/>
          <p:cNvSpPr>
            <a:spLocks noGrp="1"/>
          </p:cNvSpPr>
          <p:nvPr>
            <p:ph idx="1"/>
          </p:nvPr>
        </p:nvSpPr>
        <p:spPr>
          <a:xfrm>
            <a:off x="404566" y="1528680"/>
            <a:ext cx="11787433" cy="4909827"/>
          </a:xfrm>
        </p:spPr>
        <p:txBody>
          <a:bodyPr>
            <a:normAutofit lnSpcReduction="10000"/>
          </a:bodyPr>
          <a:lstStyle/>
          <a:p>
            <a:r>
              <a:rPr lang="en-AU" dirty="0" smtClean="0"/>
              <a:t>More than 100 million new unemployed in the West. 400 million worldwide.</a:t>
            </a:r>
          </a:p>
          <a:p>
            <a:r>
              <a:rPr lang="en-AU" dirty="0" smtClean="0"/>
              <a:t>A quarterly GDP drop of 20% in the West and elsewhere.</a:t>
            </a:r>
          </a:p>
          <a:p>
            <a:r>
              <a:rPr lang="en-AU" dirty="0" smtClean="0"/>
              <a:t>Hundreds of millions threatened by famines. Tens of millions projected to die unnecessarily from TB, malaria, cholera, etc.</a:t>
            </a:r>
            <a:endParaRPr lang="en-AU" dirty="0" smtClean="0"/>
          </a:p>
          <a:p>
            <a:r>
              <a:rPr lang="en-AU" dirty="0" smtClean="0"/>
              <a:t>Civil strife brewing in Lebanon, India (with the Muslims blamed), and parts of Africa.</a:t>
            </a:r>
          </a:p>
          <a:p>
            <a:r>
              <a:rPr lang="en-AU" dirty="0" smtClean="0"/>
              <a:t>Mass loneliness in lock down territories.</a:t>
            </a:r>
          </a:p>
          <a:p>
            <a:r>
              <a:rPr lang="en-AU" dirty="0" smtClean="0"/>
              <a:t>20,000 prevented IVF babies per month in the West. The same again elsewhere.</a:t>
            </a:r>
          </a:p>
          <a:p>
            <a:r>
              <a:rPr lang="en-AU" dirty="0" smtClean="0"/>
              <a:t>Reduced usage of health services in the West due to fear.</a:t>
            </a:r>
          </a:p>
          <a:p>
            <a:r>
              <a:rPr lang="en-AU" dirty="0" smtClean="0"/>
              <a:t>Disrupted education of over a billion children.</a:t>
            </a:r>
          </a:p>
          <a:p>
            <a:endParaRPr lang="en-AU" dirty="0"/>
          </a:p>
        </p:txBody>
      </p:sp>
    </p:spTree>
    <p:extLst>
      <p:ext uri="{BB962C8B-B14F-4D97-AF65-F5344CB8AC3E}">
        <p14:creationId xmlns:p14="http://schemas.microsoft.com/office/powerpoint/2010/main" val="1522063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979" y="49327"/>
            <a:ext cx="10515600" cy="1325563"/>
          </a:xfrm>
        </p:spPr>
        <p:txBody>
          <a:bodyPr>
            <a:normAutofit fontScale="90000"/>
          </a:bodyPr>
          <a:lstStyle/>
          <a:p>
            <a:r>
              <a:rPr lang="en-AU" dirty="0" smtClean="0"/>
              <a:t>Which of these are also in marginal effects (</a:t>
            </a:r>
            <a:r>
              <a:rPr lang="en-AU" dirty="0" err="1" smtClean="0"/>
              <a:t>ie</a:t>
            </a:r>
            <a:r>
              <a:rPr lang="en-AU" dirty="0" smtClean="0"/>
              <a:t> due to </a:t>
            </a:r>
            <a:r>
              <a:rPr lang="en-AU" dirty="0" smtClean="0">
                <a:solidFill>
                  <a:srgbClr val="FF0000"/>
                </a:solidFill>
              </a:rPr>
              <a:t>local policies</a:t>
            </a:r>
            <a:r>
              <a:rPr lang="en-AU" dirty="0" smtClean="0"/>
              <a:t>)? And which are largely </a:t>
            </a:r>
            <a:r>
              <a:rPr lang="en-AU" dirty="0" smtClean="0">
                <a:solidFill>
                  <a:srgbClr val="00B050"/>
                </a:solidFill>
              </a:rPr>
              <a:t>global</a:t>
            </a:r>
            <a:r>
              <a:rPr lang="en-AU" dirty="0" smtClean="0"/>
              <a:t>?</a:t>
            </a:r>
            <a:endParaRPr lang="en-AU" dirty="0"/>
          </a:p>
        </p:txBody>
      </p:sp>
      <p:sp>
        <p:nvSpPr>
          <p:cNvPr id="3" name="Content Placeholder 2"/>
          <p:cNvSpPr>
            <a:spLocks noGrp="1"/>
          </p:cNvSpPr>
          <p:nvPr>
            <p:ph idx="1"/>
          </p:nvPr>
        </p:nvSpPr>
        <p:spPr>
          <a:xfrm>
            <a:off x="404567" y="1528680"/>
            <a:ext cx="11237536" cy="4909827"/>
          </a:xfrm>
        </p:spPr>
        <p:txBody>
          <a:bodyPr>
            <a:normAutofit lnSpcReduction="10000"/>
          </a:bodyPr>
          <a:lstStyle/>
          <a:p>
            <a:r>
              <a:rPr lang="en-AU" dirty="0" smtClean="0"/>
              <a:t>More than </a:t>
            </a:r>
            <a:r>
              <a:rPr lang="en-AU" dirty="0" smtClean="0">
                <a:solidFill>
                  <a:srgbClr val="00B050"/>
                </a:solidFill>
              </a:rPr>
              <a:t>100 million new unemployed in the West</a:t>
            </a:r>
            <a:r>
              <a:rPr lang="en-AU" dirty="0" smtClean="0"/>
              <a:t>. </a:t>
            </a:r>
            <a:r>
              <a:rPr lang="en-AU" dirty="0" smtClean="0">
                <a:solidFill>
                  <a:srgbClr val="FF0000"/>
                </a:solidFill>
              </a:rPr>
              <a:t>Business bankruptcy</a:t>
            </a:r>
            <a:r>
              <a:rPr lang="en-AU" dirty="0" smtClean="0"/>
              <a:t>.</a:t>
            </a:r>
          </a:p>
          <a:p>
            <a:r>
              <a:rPr lang="en-AU" dirty="0" smtClean="0"/>
              <a:t>A GDP drop of </a:t>
            </a:r>
            <a:r>
              <a:rPr lang="en-AU" dirty="0" smtClean="0">
                <a:solidFill>
                  <a:srgbClr val="00B050"/>
                </a:solidFill>
              </a:rPr>
              <a:t>20% in the West</a:t>
            </a:r>
            <a:r>
              <a:rPr lang="en-AU" dirty="0" smtClean="0"/>
              <a:t>. </a:t>
            </a:r>
            <a:r>
              <a:rPr lang="en-AU" dirty="0" smtClean="0">
                <a:solidFill>
                  <a:srgbClr val="FF0000"/>
                </a:solidFill>
              </a:rPr>
              <a:t>Sectoral collapse</a:t>
            </a:r>
            <a:r>
              <a:rPr lang="en-AU" dirty="0" smtClean="0"/>
              <a:t>.</a:t>
            </a:r>
          </a:p>
          <a:p>
            <a:r>
              <a:rPr lang="en-AU" dirty="0" smtClean="0"/>
              <a:t>A feared </a:t>
            </a:r>
            <a:r>
              <a:rPr lang="en-AU" dirty="0" smtClean="0">
                <a:solidFill>
                  <a:srgbClr val="00B050"/>
                </a:solidFill>
              </a:rPr>
              <a:t>famine and loss of </a:t>
            </a:r>
            <a:r>
              <a:rPr lang="en-AU" dirty="0" err="1" smtClean="0">
                <a:solidFill>
                  <a:srgbClr val="00B050"/>
                </a:solidFill>
              </a:rPr>
              <a:t>innoculations</a:t>
            </a:r>
            <a:r>
              <a:rPr lang="en-AU" dirty="0" smtClean="0">
                <a:solidFill>
                  <a:srgbClr val="00B050"/>
                </a:solidFill>
              </a:rPr>
              <a:t> </a:t>
            </a:r>
            <a:r>
              <a:rPr lang="en-AU" dirty="0" smtClean="0"/>
              <a:t>in poor countries costing many millions.</a:t>
            </a:r>
          </a:p>
          <a:p>
            <a:r>
              <a:rPr lang="en-AU" dirty="0" smtClean="0">
                <a:solidFill>
                  <a:srgbClr val="00B050"/>
                </a:solidFill>
              </a:rPr>
              <a:t>Civil wars brewing </a:t>
            </a:r>
            <a:r>
              <a:rPr lang="en-AU" dirty="0" smtClean="0"/>
              <a:t>in </a:t>
            </a:r>
            <a:r>
              <a:rPr lang="en-AU" dirty="0" smtClean="0">
                <a:solidFill>
                  <a:srgbClr val="FF0000"/>
                </a:solidFill>
              </a:rPr>
              <a:t>Lebanon</a:t>
            </a:r>
            <a:r>
              <a:rPr lang="en-AU" dirty="0" smtClean="0"/>
              <a:t>, </a:t>
            </a:r>
            <a:r>
              <a:rPr lang="en-AU" dirty="0" smtClean="0">
                <a:solidFill>
                  <a:srgbClr val="FF0000"/>
                </a:solidFill>
              </a:rPr>
              <a:t>India</a:t>
            </a:r>
            <a:r>
              <a:rPr lang="en-AU" dirty="0" smtClean="0"/>
              <a:t> (with the Muslims blamed), and parts of Africa.</a:t>
            </a:r>
          </a:p>
          <a:p>
            <a:r>
              <a:rPr lang="en-AU" dirty="0" smtClean="0">
                <a:solidFill>
                  <a:srgbClr val="FF0000"/>
                </a:solidFill>
              </a:rPr>
              <a:t>Mass loneliness </a:t>
            </a:r>
            <a:r>
              <a:rPr lang="en-AU" dirty="0" smtClean="0"/>
              <a:t>in lock down territories.</a:t>
            </a:r>
          </a:p>
          <a:p>
            <a:r>
              <a:rPr lang="en-AU" dirty="0" smtClean="0">
                <a:solidFill>
                  <a:srgbClr val="FF0000"/>
                </a:solidFill>
              </a:rPr>
              <a:t>20,000 prevented IVF babies </a:t>
            </a:r>
            <a:r>
              <a:rPr lang="en-AU" dirty="0" smtClean="0"/>
              <a:t>per month in the West (</a:t>
            </a:r>
            <a:r>
              <a:rPr lang="en-AU" dirty="0" smtClean="0">
                <a:solidFill>
                  <a:srgbClr val="FF0000"/>
                </a:solidFill>
              </a:rPr>
              <a:t>2,000 in the UK</a:t>
            </a:r>
            <a:r>
              <a:rPr lang="en-AU" dirty="0" smtClean="0"/>
              <a:t>). The same again elsewhere.</a:t>
            </a:r>
          </a:p>
          <a:p>
            <a:r>
              <a:rPr lang="en-AU" dirty="0" smtClean="0">
                <a:solidFill>
                  <a:srgbClr val="FF0000"/>
                </a:solidFill>
              </a:rPr>
              <a:t>Reduced usage of health services</a:t>
            </a:r>
            <a:r>
              <a:rPr lang="en-AU" dirty="0" smtClean="0"/>
              <a:t> in the West due to fear.</a:t>
            </a:r>
          </a:p>
          <a:p>
            <a:r>
              <a:rPr lang="en-AU" dirty="0" smtClean="0">
                <a:solidFill>
                  <a:srgbClr val="FF0000"/>
                </a:solidFill>
              </a:rPr>
              <a:t>Disrupted education </a:t>
            </a:r>
            <a:r>
              <a:rPr lang="en-AU" dirty="0" smtClean="0"/>
              <a:t>of over a billion children.</a:t>
            </a:r>
          </a:p>
          <a:p>
            <a:endParaRPr lang="en-AU" dirty="0"/>
          </a:p>
        </p:txBody>
      </p:sp>
    </p:spTree>
    <p:extLst>
      <p:ext uri="{BB962C8B-B14F-4D97-AF65-F5344CB8AC3E}">
        <p14:creationId xmlns:p14="http://schemas.microsoft.com/office/powerpoint/2010/main" val="1829594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657857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Basic </a:t>
            </a:r>
            <a:r>
              <a:rPr lang="en-AU" dirty="0" err="1" smtClean="0"/>
              <a:t>covid</a:t>
            </a:r>
            <a:r>
              <a:rPr lang="en-AU" dirty="0" smtClean="0"/>
              <a:t>-scenarios</a:t>
            </a:r>
            <a:endParaRPr lang="en-AU" dirty="0"/>
          </a:p>
        </p:txBody>
      </p:sp>
      <p:sp>
        <p:nvSpPr>
          <p:cNvPr id="3" name="Content Placeholder 2"/>
          <p:cNvSpPr>
            <a:spLocks noGrp="1"/>
          </p:cNvSpPr>
          <p:nvPr>
            <p:ph idx="1"/>
          </p:nvPr>
        </p:nvSpPr>
        <p:spPr>
          <a:xfrm>
            <a:off x="838200" y="1825625"/>
            <a:ext cx="10515600" cy="4901418"/>
          </a:xfrm>
        </p:spPr>
        <p:txBody>
          <a:bodyPr>
            <a:normAutofit fontScale="92500"/>
          </a:bodyPr>
          <a:lstStyle/>
          <a:p>
            <a:r>
              <a:rPr lang="en-AU" dirty="0" smtClean="0"/>
              <a:t>If we as a country/world lock </a:t>
            </a:r>
            <a:r>
              <a:rPr lang="en-AU" dirty="0" smtClean="0"/>
              <a:t>down, </a:t>
            </a:r>
            <a:r>
              <a:rPr lang="en-AU" dirty="0" smtClean="0"/>
              <a:t>we get</a:t>
            </a:r>
          </a:p>
          <a:p>
            <a:pPr lvl="1"/>
            <a:r>
              <a:rPr lang="en-AU" dirty="0" smtClean="0"/>
              <a:t>Some deaths, some economic and social disruption, some loneliness, some suicides, etc.</a:t>
            </a:r>
          </a:p>
          <a:p>
            <a:endParaRPr lang="en-AU" dirty="0"/>
          </a:p>
          <a:p>
            <a:r>
              <a:rPr lang="en-AU" dirty="0" smtClean="0"/>
              <a:t>If we as a country/world treat </a:t>
            </a:r>
            <a:r>
              <a:rPr lang="en-AU" dirty="0" err="1" smtClean="0"/>
              <a:t>covid</a:t>
            </a:r>
            <a:r>
              <a:rPr lang="en-AU" dirty="0" smtClean="0"/>
              <a:t> as another flu and don’t do much different from before, we get… </a:t>
            </a:r>
          </a:p>
          <a:p>
            <a:pPr lvl="1"/>
            <a:r>
              <a:rPr lang="en-AU" dirty="0" smtClean="0"/>
              <a:t>A different number of deaths, different disruption, different social outcomes, etc.</a:t>
            </a:r>
          </a:p>
          <a:p>
            <a:pPr lvl="1"/>
            <a:endParaRPr lang="en-AU" dirty="0"/>
          </a:p>
          <a:p>
            <a:r>
              <a:rPr lang="en-AU" dirty="0" smtClean="0"/>
              <a:t>Getting estimates of actual outcomes in the two scenarios is always difficult. We never know either what happened or could have happened. That is true for all choices. </a:t>
            </a:r>
          </a:p>
          <a:p>
            <a:r>
              <a:rPr lang="en-AU" dirty="0" smtClean="0"/>
              <a:t>How would you like “us” to choose? Why was what choice made?</a:t>
            </a:r>
          </a:p>
          <a:p>
            <a:pPr marL="457200" lvl="1" indent="0">
              <a:buNone/>
            </a:pPr>
            <a:endParaRPr lang="en-AU" dirty="0"/>
          </a:p>
        </p:txBody>
      </p:sp>
    </p:spTree>
    <p:extLst>
      <p:ext uri="{BB962C8B-B14F-4D97-AF65-F5344CB8AC3E}">
        <p14:creationId xmlns:p14="http://schemas.microsoft.com/office/powerpoint/2010/main" val="561175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 to save us from one form of misery via lock downs, we are getting another….</a:t>
            </a:r>
            <a:endParaRPr lang="en-AU" dirty="0"/>
          </a:p>
        </p:txBody>
      </p:sp>
    </p:spTree>
    <p:extLst>
      <p:ext uri="{BB962C8B-B14F-4D97-AF65-F5344CB8AC3E}">
        <p14:creationId xmlns:p14="http://schemas.microsoft.com/office/powerpoint/2010/main" val="2397069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To prevent more of these</a:t>
            </a:r>
            <a:endParaRPr lang="en-AU"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8500" y="2394744"/>
            <a:ext cx="5715000" cy="3213100"/>
          </a:xfrm>
          <a:prstGeom prst="rect">
            <a:avLst/>
          </a:prstGeom>
        </p:spPr>
      </p:pic>
    </p:spTree>
    <p:extLst>
      <p:ext uri="{BB962C8B-B14F-4D97-AF65-F5344CB8AC3E}">
        <p14:creationId xmlns:p14="http://schemas.microsoft.com/office/powerpoint/2010/main" val="717645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We are creating many more of these</a:t>
            </a:r>
            <a:endParaRPr lang="en-AU"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79880" y="2066629"/>
            <a:ext cx="6524928" cy="4351338"/>
          </a:xfrm>
        </p:spPr>
      </p:pic>
    </p:spTree>
    <p:extLst>
      <p:ext uri="{BB962C8B-B14F-4D97-AF65-F5344CB8AC3E}">
        <p14:creationId xmlns:p14="http://schemas.microsoft.com/office/powerpoint/2010/main" val="3158888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And these</a:t>
            </a:r>
            <a:endParaRPr lang="en-AU"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52750" y="1905794"/>
            <a:ext cx="6286500" cy="4191000"/>
          </a:xfrm>
          <a:prstGeom prst="rect">
            <a:avLst/>
          </a:prstGeom>
        </p:spPr>
      </p:pic>
    </p:spTree>
    <p:extLst>
      <p:ext uri="{BB962C8B-B14F-4D97-AF65-F5344CB8AC3E}">
        <p14:creationId xmlns:p14="http://schemas.microsoft.com/office/powerpoint/2010/main" val="2385792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And these</a:t>
            </a:r>
            <a:endParaRPr lang="en-AU"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923165" y="3030390"/>
            <a:ext cx="3896003" cy="2597335"/>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863701"/>
            <a:ext cx="5839410" cy="3197077"/>
          </a:xfrm>
          <a:prstGeom prst="rect">
            <a:avLst/>
          </a:prstGeom>
        </p:spPr>
      </p:pic>
      <p:cxnSp>
        <p:nvCxnSpPr>
          <p:cNvPr id="7" name="Straight Connector 6"/>
          <p:cNvCxnSpPr/>
          <p:nvPr/>
        </p:nvCxnSpPr>
        <p:spPr>
          <a:xfrm>
            <a:off x="517451" y="2473842"/>
            <a:ext cx="6578009" cy="4026195"/>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416209" y="2736112"/>
            <a:ext cx="4545418" cy="317204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7577470" y="2629786"/>
            <a:ext cx="4384157" cy="354031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695741" y="2133600"/>
            <a:ext cx="6045301" cy="4098794"/>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7917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And these</a:t>
            </a:r>
            <a:endParaRPr lang="en-AU"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9657" y="1508088"/>
            <a:ext cx="2667608" cy="4064926"/>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9009" y="1842977"/>
            <a:ext cx="4973383" cy="3730037"/>
          </a:xfrm>
          <a:prstGeom prst="rect">
            <a:avLst/>
          </a:prstGeom>
        </p:spPr>
      </p:pic>
      <p:sp>
        <p:nvSpPr>
          <p:cNvPr id="6" name="TextBox 5"/>
          <p:cNvSpPr txBox="1"/>
          <p:nvPr/>
        </p:nvSpPr>
        <p:spPr>
          <a:xfrm>
            <a:off x="7646581" y="5656428"/>
            <a:ext cx="3785191" cy="461665"/>
          </a:xfrm>
          <a:prstGeom prst="rect">
            <a:avLst/>
          </a:prstGeom>
          <a:noFill/>
        </p:spPr>
        <p:txBody>
          <a:bodyPr wrap="square" rtlCol="0">
            <a:spAutoFit/>
          </a:bodyPr>
          <a:lstStyle/>
          <a:p>
            <a:r>
              <a:rPr lang="en-AU" sz="2400" dirty="0" smtClean="0"/>
              <a:t>The old dying alone.</a:t>
            </a:r>
            <a:endParaRPr lang="en-AU" sz="2400" dirty="0"/>
          </a:p>
        </p:txBody>
      </p:sp>
      <p:sp>
        <p:nvSpPr>
          <p:cNvPr id="7" name="TextBox 6"/>
          <p:cNvSpPr txBox="1"/>
          <p:nvPr/>
        </p:nvSpPr>
        <p:spPr>
          <a:xfrm>
            <a:off x="1031358" y="5702595"/>
            <a:ext cx="3785191" cy="830997"/>
          </a:xfrm>
          <a:prstGeom prst="rect">
            <a:avLst/>
          </a:prstGeom>
          <a:noFill/>
        </p:spPr>
        <p:txBody>
          <a:bodyPr wrap="square" rtlCol="0">
            <a:spAutoFit/>
          </a:bodyPr>
          <a:lstStyle/>
          <a:p>
            <a:r>
              <a:rPr lang="en-AU" sz="2400" dirty="0" smtClean="0"/>
              <a:t>Uneducated fearful dysfunctional children</a:t>
            </a:r>
            <a:endParaRPr lang="en-AU" sz="2400" dirty="0"/>
          </a:p>
        </p:txBody>
      </p:sp>
    </p:spTree>
    <p:extLst>
      <p:ext uri="{BB962C8B-B14F-4D97-AF65-F5344CB8AC3E}">
        <p14:creationId xmlns:p14="http://schemas.microsoft.com/office/powerpoint/2010/main" val="1700380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474" y="-109797"/>
            <a:ext cx="10515600" cy="1325563"/>
          </a:xfrm>
        </p:spPr>
        <p:txBody>
          <a:bodyPr/>
          <a:lstStyle/>
          <a:p>
            <a:r>
              <a:rPr lang="en-AU" dirty="0" smtClean="0"/>
              <a:t>And these</a:t>
            </a:r>
            <a:endParaRPr lang="en-AU" dirty="0"/>
          </a:p>
        </p:txBody>
      </p:sp>
      <p:pic>
        <p:nvPicPr>
          <p:cNvPr id="10" name="Content Placeholder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8736" y="1265643"/>
            <a:ext cx="5801784" cy="4351338"/>
          </a:xfrm>
        </p:spPr>
      </p:pic>
      <p:sp>
        <p:nvSpPr>
          <p:cNvPr id="11" name="TextBox 10"/>
          <p:cNvSpPr txBox="1"/>
          <p:nvPr/>
        </p:nvSpPr>
        <p:spPr>
          <a:xfrm>
            <a:off x="7052932" y="4961861"/>
            <a:ext cx="4359347" cy="1569660"/>
          </a:xfrm>
          <a:prstGeom prst="rect">
            <a:avLst/>
          </a:prstGeom>
          <a:noFill/>
        </p:spPr>
        <p:txBody>
          <a:bodyPr wrap="square" rtlCol="0">
            <a:spAutoFit/>
          </a:bodyPr>
          <a:lstStyle/>
          <a:p>
            <a:r>
              <a:rPr lang="en-AU" sz="2400" dirty="0" smtClean="0"/>
              <a:t>Malaria, Cancer, childhood </a:t>
            </a:r>
            <a:r>
              <a:rPr lang="en-AU" sz="2400" dirty="0" err="1" smtClean="0"/>
              <a:t>innoculations</a:t>
            </a:r>
            <a:r>
              <a:rPr lang="en-AU" sz="2400" dirty="0" smtClean="0"/>
              <a:t>: less attention, delayed treatments millions of postponed operations in the UK</a:t>
            </a:r>
            <a:endParaRPr lang="en-AU" sz="2400" dirty="0"/>
          </a:p>
        </p:txBody>
      </p:sp>
      <p:sp>
        <p:nvSpPr>
          <p:cNvPr id="13" name="TextBox 12"/>
          <p:cNvSpPr txBox="1"/>
          <p:nvPr/>
        </p:nvSpPr>
        <p:spPr>
          <a:xfrm>
            <a:off x="1314894" y="6184605"/>
            <a:ext cx="6287386" cy="461665"/>
          </a:xfrm>
          <a:prstGeom prst="rect">
            <a:avLst/>
          </a:prstGeom>
          <a:noFill/>
        </p:spPr>
        <p:txBody>
          <a:bodyPr wrap="square" rtlCol="0">
            <a:spAutoFit/>
          </a:bodyPr>
          <a:lstStyle/>
          <a:p>
            <a:r>
              <a:rPr lang="en-AU" sz="2400" dirty="0" smtClean="0"/>
              <a:t>Last IVF chance cancelled.</a:t>
            </a:r>
            <a:endParaRPr lang="en-AU" sz="2400" dirty="0"/>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4616" y="1591063"/>
            <a:ext cx="5388194" cy="3086986"/>
          </a:xfrm>
          <a:prstGeom prst="rect">
            <a:avLst/>
          </a:prstGeom>
        </p:spPr>
      </p:pic>
    </p:spTree>
    <p:extLst>
      <p:ext uri="{BB962C8B-B14F-4D97-AF65-F5344CB8AC3E}">
        <p14:creationId xmlns:p14="http://schemas.microsoft.com/office/powerpoint/2010/main" val="34798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point?</a:t>
            </a:r>
            <a:endParaRPr lang="en-AU" dirty="0"/>
          </a:p>
        </p:txBody>
      </p:sp>
      <p:sp>
        <p:nvSpPr>
          <p:cNvPr id="3" name="Content Placeholder 2"/>
          <p:cNvSpPr>
            <a:spLocks noGrp="1"/>
          </p:cNvSpPr>
          <p:nvPr>
            <p:ph idx="1"/>
          </p:nvPr>
        </p:nvSpPr>
        <p:spPr/>
        <p:txBody>
          <a:bodyPr/>
          <a:lstStyle/>
          <a:p>
            <a:r>
              <a:rPr lang="en-AU" dirty="0" smtClean="0"/>
              <a:t>There are costs of the choice made (lock </a:t>
            </a:r>
            <a:r>
              <a:rPr lang="en-AU" dirty="0" smtClean="0"/>
              <a:t>downs and social distancing) </a:t>
            </a:r>
            <a:r>
              <a:rPr lang="en-AU" dirty="0" smtClean="0"/>
              <a:t>and benefits. They are in different domains. Different people are affected at different times. </a:t>
            </a:r>
            <a:r>
              <a:rPr lang="en-AU" dirty="0" smtClean="0"/>
              <a:t>All relevant effects evoke strong emotions. </a:t>
            </a:r>
            <a:r>
              <a:rPr lang="en-AU" dirty="0" smtClean="0"/>
              <a:t>We would like not to have to choose at all…… </a:t>
            </a:r>
            <a:endParaRPr lang="en-AU" dirty="0" smtClean="0"/>
          </a:p>
          <a:p>
            <a:endParaRPr lang="en-AU" dirty="0" smtClean="0"/>
          </a:p>
          <a:p>
            <a:r>
              <a:rPr lang="en-AU" dirty="0" smtClean="0"/>
              <a:t>But </a:t>
            </a:r>
            <a:r>
              <a:rPr lang="en-AU" dirty="0" smtClean="0"/>
              <a:t>we need to make choices and we want to “do the right thing”.</a:t>
            </a:r>
            <a:endParaRPr lang="en-AU" dirty="0"/>
          </a:p>
        </p:txBody>
      </p:sp>
    </p:spTree>
    <p:extLst>
      <p:ext uri="{BB962C8B-B14F-4D97-AF65-F5344CB8AC3E}">
        <p14:creationId xmlns:p14="http://schemas.microsoft.com/office/powerpoint/2010/main" val="1744773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5284" y="92149"/>
            <a:ext cx="11206716" cy="1598539"/>
          </a:xfrm>
        </p:spPr>
        <p:txBody>
          <a:bodyPr/>
          <a:lstStyle/>
          <a:p>
            <a:r>
              <a:rPr lang="en-AU" dirty="0" smtClean="0"/>
              <a:t>How to line up the costs and benefits in these different domains?</a:t>
            </a:r>
            <a:endParaRPr lang="en-AU" dirty="0"/>
          </a:p>
        </p:txBody>
      </p:sp>
      <p:sp>
        <p:nvSpPr>
          <p:cNvPr id="3" name="Content Placeholder 2"/>
          <p:cNvSpPr>
            <a:spLocks noGrp="1"/>
          </p:cNvSpPr>
          <p:nvPr>
            <p:ph idx="1"/>
          </p:nvPr>
        </p:nvSpPr>
        <p:spPr>
          <a:xfrm>
            <a:off x="184299" y="1864242"/>
            <a:ext cx="11759608" cy="4820093"/>
          </a:xfrm>
        </p:spPr>
        <p:txBody>
          <a:bodyPr>
            <a:normAutofit lnSpcReduction="10000"/>
          </a:bodyPr>
          <a:lstStyle/>
          <a:p>
            <a:r>
              <a:rPr lang="en-AU" dirty="0" smtClean="0"/>
              <a:t>We need a single metric to put them together.</a:t>
            </a:r>
          </a:p>
          <a:p>
            <a:endParaRPr lang="en-AU" dirty="0"/>
          </a:p>
          <a:p>
            <a:r>
              <a:rPr lang="en-AU" dirty="0" smtClean="0"/>
              <a:t>Note that every decision maker, explicitly or implicitly, makes </a:t>
            </a:r>
            <a:r>
              <a:rPr lang="en-AU" dirty="0" err="1" smtClean="0"/>
              <a:t>tradeoffs</a:t>
            </a:r>
            <a:r>
              <a:rPr lang="en-AU" dirty="0" smtClean="0"/>
              <a:t> all the time.</a:t>
            </a:r>
          </a:p>
          <a:p>
            <a:endParaRPr lang="en-AU" dirty="0"/>
          </a:p>
          <a:p>
            <a:r>
              <a:rPr lang="en-AU" dirty="0" smtClean="0"/>
              <a:t>The </a:t>
            </a:r>
            <a:r>
              <a:rPr lang="en-AU" b="1" dirty="0" smtClean="0"/>
              <a:t>burden of an economist </a:t>
            </a:r>
            <a:r>
              <a:rPr lang="en-AU" dirty="0" smtClean="0"/>
              <a:t>is never to shy away from </a:t>
            </a:r>
            <a:r>
              <a:rPr lang="en-AU" dirty="0" err="1" smtClean="0"/>
              <a:t>tradeoffs</a:t>
            </a:r>
            <a:r>
              <a:rPr lang="en-AU" dirty="0" smtClean="0"/>
              <a:t> by arbitrarily calling one thing “safe” or “vital”, thereby marginalising the importance of what is lost. </a:t>
            </a:r>
          </a:p>
          <a:p>
            <a:endParaRPr lang="en-AU" dirty="0"/>
          </a:p>
          <a:p>
            <a:r>
              <a:rPr lang="en-AU" dirty="0" smtClean="0"/>
              <a:t>All jobs are essential to those whose livelihoods depend on them. No course of action is ever entirely safe. One </a:t>
            </a:r>
            <a:r>
              <a:rPr lang="en-AU" b="1" dirty="0" smtClean="0"/>
              <a:t>must</a:t>
            </a:r>
            <a:r>
              <a:rPr lang="en-AU" dirty="0" smtClean="0"/>
              <a:t> consider the </a:t>
            </a:r>
            <a:r>
              <a:rPr lang="en-AU" b="1" dirty="0" smtClean="0"/>
              <a:t>likely</a:t>
            </a:r>
            <a:r>
              <a:rPr lang="en-AU" dirty="0" smtClean="0"/>
              <a:t> </a:t>
            </a:r>
            <a:r>
              <a:rPr lang="en-AU" dirty="0" err="1" smtClean="0"/>
              <a:t>tradeoffs</a:t>
            </a:r>
            <a:r>
              <a:rPr lang="en-AU" dirty="0" smtClean="0"/>
              <a:t>.</a:t>
            </a:r>
            <a:endParaRPr lang="en-AU" dirty="0"/>
          </a:p>
        </p:txBody>
      </p:sp>
    </p:spTree>
    <p:extLst>
      <p:ext uri="{BB962C8B-B14F-4D97-AF65-F5344CB8AC3E}">
        <p14:creationId xmlns:p14="http://schemas.microsoft.com/office/powerpoint/2010/main" val="823385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 common metric to use in Cost-Benefit?</a:t>
            </a:r>
            <a:endParaRPr lang="en-AU" dirty="0"/>
          </a:p>
        </p:txBody>
      </p:sp>
      <p:sp>
        <p:nvSpPr>
          <p:cNvPr id="3" name="Content Placeholder 2"/>
          <p:cNvSpPr>
            <a:spLocks noGrp="1"/>
          </p:cNvSpPr>
          <p:nvPr>
            <p:ph idx="1"/>
          </p:nvPr>
        </p:nvSpPr>
        <p:spPr/>
        <p:txBody>
          <a:bodyPr>
            <a:normAutofit lnSpcReduction="10000"/>
          </a:bodyPr>
          <a:lstStyle/>
          <a:p>
            <a:r>
              <a:rPr lang="en-AU" dirty="0"/>
              <a:t>The “old” common metric was </a:t>
            </a:r>
            <a:r>
              <a:rPr lang="en-AU" b="1" dirty="0"/>
              <a:t>economic surplus</a:t>
            </a:r>
            <a:r>
              <a:rPr lang="en-AU" dirty="0"/>
              <a:t>. </a:t>
            </a:r>
            <a:r>
              <a:rPr lang="en-AU" dirty="0" smtClean="0"/>
              <a:t>Used by most governments and large organisations. Economic surplus does not fully value life, loneliness, unemployment, lost fertility, and bad health though. So we need a richer measure.</a:t>
            </a:r>
          </a:p>
          <a:p>
            <a:endParaRPr lang="en-AU" dirty="0"/>
          </a:p>
          <a:p>
            <a:pPr marL="0" indent="0">
              <a:buNone/>
            </a:pPr>
            <a:endParaRPr lang="en-AU" dirty="0"/>
          </a:p>
          <a:p>
            <a:r>
              <a:rPr lang="en-AU" dirty="0" smtClean="0"/>
              <a:t>A new metric is the </a:t>
            </a:r>
            <a:r>
              <a:rPr lang="en-AU" b="1" dirty="0" smtClean="0"/>
              <a:t>WELLBY</a:t>
            </a:r>
            <a:r>
              <a:rPr lang="en-AU" dirty="0" smtClean="0"/>
              <a:t>: “happy years lived”. You can then value anything that makes life enjoyable</a:t>
            </a:r>
            <a:r>
              <a:rPr lang="en-AU" dirty="0" smtClean="0"/>
              <a:t>.</a:t>
            </a:r>
          </a:p>
          <a:p>
            <a:r>
              <a:rPr lang="en-AU" dirty="0" smtClean="0"/>
              <a:t>My co-author Gigi Foster presented this method to the UK parliamentary committee on </a:t>
            </a:r>
            <a:r>
              <a:rPr lang="en-AU" dirty="0" err="1" smtClean="0"/>
              <a:t>covid</a:t>
            </a:r>
            <a:r>
              <a:rPr lang="en-AU" dirty="0" smtClean="0"/>
              <a:t> at the end of October. </a:t>
            </a:r>
            <a:endParaRPr lang="en-AU" dirty="0"/>
          </a:p>
        </p:txBody>
      </p:sp>
    </p:spTree>
    <p:extLst>
      <p:ext uri="{BB962C8B-B14F-4D97-AF65-F5344CB8AC3E}">
        <p14:creationId xmlns:p14="http://schemas.microsoft.com/office/powerpoint/2010/main" val="4050560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0"/>
            <a:ext cx="10515600" cy="1325563"/>
          </a:xfrm>
        </p:spPr>
        <p:txBody>
          <a:bodyPr/>
          <a:lstStyle/>
          <a:p>
            <a:r>
              <a:rPr lang="en-AU" dirty="0" smtClean="0"/>
              <a:t>The UK life-satisfaction question (“ONS4”)</a:t>
            </a:r>
            <a:endParaRPr lang="en-AU" dirty="0"/>
          </a:p>
        </p:txBody>
      </p:sp>
      <p:sp>
        <p:nvSpPr>
          <p:cNvPr id="3" name="Content Placeholder 2"/>
          <p:cNvSpPr>
            <a:spLocks noGrp="1"/>
          </p:cNvSpPr>
          <p:nvPr>
            <p:ph idx="1"/>
          </p:nvPr>
        </p:nvSpPr>
        <p:spPr>
          <a:xfrm>
            <a:off x="838199" y="1325564"/>
            <a:ext cx="10855751" cy="5532436"/>
          </a:xfrm>
        </p:spPr>
        <p:txBody>
          <a:bodyPr>
            <a:normAutofit fontScale="92500" lnSpcReduction="10000"/>
          </a:bodyPr>
          <a:lstStyle/>
          <a:p>
            <a:r>
              <a:rPr lang="en-AU" dirty="0"/>
              <a:t>Overall, how satisfied are you with your life nowadays? 0 is “not at all” and 10 is “completely</a:t>
            </a:r>
            <a:r>
              <a:rPr lang="en-AU" dirty="0" smtClean="0"/>
              <a:t>”</a:t>
            </a:r>
          </a:p>
          <a:p>
            <a:endParaRPr lang="en-AU" dirty="0" smtClean="0"/>
          </a:p>
          <a:p>
            <a:r>
              <a:rPr lang="en-AU" dirty="0" smtClean="0"/>
              <a:t>1 WELLBY is one unit of life-satisfaction on a 0-10 scale for one person for one year.</a:t>
            </a:r>
            <a:endParaRPr lang="en-AU" dirty="0"/>
          </a:p>
          <a:p>
            <a:r>
              <a:rPr lang="en-AU" dirty="0" smtClean="0"/>
              <a:t>Essentially, a normal level for someone who is very healthy is an 8. </a:t>
            </a:r>
          </a:p>
          <a:p>
            <a:r>
              <a:rPr lang="en-AU" dirty="0" smtClean="0"/>
              <a:t>The level at which people are indifferent between living on or not at all is around 2.</a:t>
            </a:r>
          </a:p>
          <a:p>
            <a:r>
              <a:rPr lang="en-AU" dirty="0" smtClean="0"/>
              <a:t>So a normal year of life is worth 6 WELLBY.</a:t>
            </a:r>
          </a:p>
          <a:p>
            <a:endParaRPr lang="en-AU" dirty="0"/>
          </a:p>
          <a:p>
            <a:r>
              <a:rPr lang="en-AU" dirty="0" smtClean="0"/>
              <a:t>So 1 year of good health is worth 6 WELLBY is 1 regular year of happy life.</a:t>
            </a:r>
          </a:p>
          <a:p>
            <a:r>
              <a:rPr lang="en-AU" dirty="0" smtClean="0"/>
              <a:t>The WELLBY captures (almost) everything that is important to people. Health measures miss joy, status, and things that give fulfilment.</a:t>
            </a:r>
            <a:endParaRPr lang="en-AU" dirty="0"/>
          </a:p>
        </p:txBody>
      </p:sp>
    </p:spTree>
    <p:extLst>
      <p:ext uri="{BB962C8B-B14F-4D97-AF65-F5344CB8AC3E}">
        <p14:creationId xmlns:p14="http://schemas.microsoft.com/office/powerpoint/2010/main" val="3773054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WELLBY</a:t>
            </a:r>
            <a:endParaRPr lang="en-AU" dirty="0"/>
          </a:p>
        </p:txBody>
      </p:sp>
      <p:sp>
        <p:nvSpPr>
          <p:cNvPr id="3" name="Content Placeholder 2"/>
          <p:cNvSpPr>
            <a:spLocks noGrp="1"/>
          </p:cNvSpPr>
          <p:nvPr>
            <p:ph idx="1"/>
          </p:nvPr>
        </p:nvSpPr>
        <p:spPr/>
        <p:txBody>
          <a:bodyPr/>
          <a:lstStyle/>
          <a:p>
            <a:r>
              <a:rPr lang="en-AU" dirty="0" smtClean="0"/>
              <a:t>The government then maximises the </a:t>
            </a:r>
          </a:p>
          <a:p>
            <a:endParaRPr lang="en-AU" dirty="0"/>
          </a:p>
          <a:p>
            <a:pPr lvl="1"/>
            <a:r>
              <a:rPr lang="en-AU" dirty="0" smtClean="0"/>
              <a:t>The </a:t>
            </a:r>
            <a:r>
              <a:rPr lang="en-AU" dirty="0" smtClean="0"/>
              <a:t>Discounted </a:t>
            </a:r>
            <a:r>
              <a:rPr lang="en-AU" dirty="0" smtClean="0"/>
              <a:t>Sum </a:t>
            </a:r>
            <a:r>
              <a:rPr lang="en-AU" dirty="0"/>
              <a:t>of the </a:t>
            </a:r>
            <a:r>
              <a:rPr lang="en-AU" dirty="0" smtClean="0"/>
              <a:t>WELLBYs </a:t>
            </a:r>
            <a:r>
              <a:rPr lang="en-AU" dirty="0"/>
              <a:t>lived by the </a:t>
            </a:r>
            <a:r>
              <a:rPr lang="en-AU" dirty="0" smtClean="0"/>
              <a:t>population. </a:t>
            </a:r>
            <a:endParaRPr lang="en-AU" dirty="0"/>
          </a:p>
          <a:p>
            <a:endParaRPr lang="en-AU" dirty="0" smtClean="0"/>
          </a:p>
          <a:p>
            <a:r>
              <a:rPr lang="en-AU" dirty="0" smtClean="0"/>
              <a:t>In calculations you use predicted changes in life satisfaction, using the best causal estimates you can find.</a:t>
            </a:r>
            <a:endParaRPr lang="en-AU" dirty="0"/>
          </a:p>
          <a:p>
            <a:endParaRPr lang="en-AU" dirty="0"/>
          </a:p>
        </p:txBody>
      </p:sp>
    </p:spTree>
    <p:extLst>
      <p:ext uri="{BB962C8B-B14F-4D97-AF65-F5344CB8AC3E}">
        <p14:creationId xmlns:p14="http://schemas.microsoft.com/office/powerpoint/2010/main" val="3681544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Two cost-benefit questions</a:t>
            </a:r>
            <a:endParaRPr lang="en-AU" dirty="0"/>
          </a:p>
        </p:txBody>
      </p:sp>
      <p:sp>
        <p:nvSpPr>
          <p:cNvPr id="3" name="Content Placeholder 2"/>
          <p:cNvSpPr>
            <a:spLocks noGrp="1"/>
          </p:cNvSpPr>
          <p:nvPr>
            <p:ph idx="1"/>
          </p:nvPr>
        </p:nvSpPr>
        <p:spPr>
          <a:xfrm>
            <a:off x="235670" y="1825625"/>
            <a:ext cx="11679810" cy="4881546"/>
          </a:xfrm>
        </p:spPr>
        <p:txBody>
          <a:bodyPr>
            <a:normAutofit/>
          </a:bodyPr>
          <a:lstStyle/>
          <a:p>
            <a:r>
              <a:rPr lang="en-AU" dirty="0" smtClean="0"/>
              <a:t>Costs versus benefits of all largescale human reactions. Relatively easy to do.</a:t>
            </a:r>
          </a:p>
          <a:p>
            <a:pPr lvl="1"/>
            <a:r>
              <a:rPr lang="en-AU" dirty="0" smtClean="0"/>
              <a:t>The economic collapse versus what was expected in January 2020.</a:t>
            </a:r>
          </a:p>
          <a:p>
            <a:pPr lvl="1"/>
            <a:r>
              <a:rPr lang="en-AU" dirty="0" smtClean="0"/>
              <a:t>The social and emotional damage versus “no change” from January 2020.</a:t>
            </a:r>
          </a:p>
          <a:p>
            <a:pPr lvl="1"/>
            <a:r>
              <a:rPr lang="en-AU" dirty="0" smtClean="0"/>
              <a:t>The death tolls of many events (like famines) versus “no change” from Jan 2020.</a:t>
            </a:r>
          </a:p>
          <a:p>
            <a:pPr lvl="1"/>
            <a:endParaRPr lang="en-AU" dirty="0"/>
          </a:p>
          <a:p>
            <a:r>
              <a:rPr lang="en-AU" dirty="0" smtClean="0"/>
              <a:t>Costs versus benefits of UK government choices. Much harder and less certain.</a:t>
            </a:r>
          </a:p>
          <a:p>
            <a:pPr lvl="1"/>
            <a:r>
              <a:rPr lang="en-AU" dirty="0" smtClean="0"/>
              <a:t>Additional economic costs of another month of lock downs.</a:t>
            </a:r>
          </a:p>
          <a:p>
            <a:pPr lvl="1"/>
            <a:r>
              <a:rPr lang="en-AU" dirty="0" smtClean="0"/>
              <a:t>Emotional costs of </a:t>
            </a:r>
            <a:r>
              <a:rPr lang="en-AU" dirty="0" smtClean="0"/>
              <a:t>social distancing</a:t>
            </a:r>
            <a:r>
              <a:rPr lang="en-AU" dirty="0" smtClean="0"/>
              <a:t> </a:t>
            </a:r>
            <a:r>
              <a:rPr lang="en-AU" dirty="0" smtClean="0"/>
              <a:t>and lock downs versus </a:t>
            </a:r>
            <a:r>
              <a:rPr lang="en-AU" dirty="0" smtClean="0"/>
              <a:t>“focussed protection”.</a:t>
            </a:r>
            <a:endParaRPr lang="en-AU" dirty="0" smtClean="0"/>
          </a:p>
          <a:p>
            <a:pPr lvl="1"/>
            <a:r>
              <a:rPr lang="en-AU" dirty="0" smtClean="0"/>
              <a:t>Such things need models and strong scenario assumptions. Some elements are easier to judge (like IVF babies) than others (like added unemployment).</a:t>
            </a:r>
            <a:endParaRPr lang="en-AU" dirty="0"/>
          </a:p>
        </p:txBody>
      </p:sp>
    </p:spTree>
    <p:extLst>
      <p:ext uri="{BB962C8B-B14F-4D97-AF65-F5344CB8AC3E}">
        <p14:creationId xmlns:p14="http://schemas.microsoft.com/office/powerpoint/2010/main" val="31943611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To do these calculations we need several numbers:</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1. </a:t>
            </a:r>
            <a:r>
              <a:rPr lang="en-AU" dirty="0"/>
              <a:t>How many WELLBYs are lost from loneliness, unemployment, and other items relevant to global and local policies?</a:t>
            </a:r>
          </a:p>
          <a:p>
            <a:endParaRPr lang="en-AU" dirty="0" smtClean="0"/>
          </a:p>
          <a:p>
            <a:r>
              <a:rPr lang="en-AU" dirty="0"/>
              <a:t>2. How many WELLBYs are lost from the GDP collapse in the world and in the UK?</a:t>
            </a:r>
          </a:p>
          <a:p>
            <a:endParaRPr lang="en-AU" dirty="0" smtClean="0"/>
          </a:p>
          <a:p>
            <a:r>
              <a:rPr lang="en-AU" dirty="0" smtClean="0"/>
              <a:t>3. </a:t>
            </a:r>
            <a:r>
              <a:rPr lang="en-AU" dirty="0" smtClean="0"/>
              <a:t>How </a:t>
            </a:r>
            <a:r>
              <a:rPr lang="en-AU" dirty="0" smtClean="0"/>
              <a:t>many WELLBYs are lost when someone dies of Covid-19?</a:t>
            </a:r>
          </a:p>
          <a:p>
            <a:pPr marL="0" indent="0">
              <a:buNone/>
            </a:pPr>
            <a:r>
              <a:rPr lang="en-AU" dirty="0" smtClean="0"/>
              <a:t> </a:t>
            </a:r>
            <a:endParaRPr lang="en-AU" dirty="0" smtClean="0"/>
          </a:p>
          <a:p>
            <a:r>
              <a:rPr lang="en-AU" dirty="0" smtClean="0"/>
              <a:t>4. What is reasonable to assume about how many more </a:t>
            </a:r>
            <a:r>
              <a:rPr lang="en-AU" dirty="0" err="1" smtClean="0"/>
              <a:t>covid</a:t>
            </a:r>
            <a:r>
              <a:rPr lang="en-AU" dirty="0" smtClean="0"/>
              <a:t>-deaths, employed, lonely, etc., are caused by various policies?</a:t>
            </a:r>
            <a:endParaRPr lang="en-AU" dirty="0"/>
          </a:p>
        </p:txBody>
      </p:sp>
    </p:spTree>
    <p:extLst>
      <p:ext uri="{BB962C8B-B14F-4D97-AF65-F5344CB8AC3E}">
        <p14:creationId xmlns:p14="http://schemas.microsoft.com/office/powerpoint/2010/main" val="728056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991425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7" name="Content Placeholder 6"/>
          <p:cNvPicPr>
            <a:picLocks noGrp="1" noChangeAspect="1"/>
          </p:cNvPicPr>
          <p:nvPr>
            <p:ph idx="1"/>
          </p:nvPr>
        </p:nvPicPr>
        <p:blipFill>
          <a:blip r:embed="rId2"/>
          <a:stretch>
            <a:fillRect/>
          </a:stretch>
        </p:blipFill>
        <p:spPr>
          <a:xfrm>
            <a:off x="751367" y="0"/>
            <a:ext cx="10350241" cy="6218752"/>
          </a:xfrm>
          <a:prstGeom prst="rect">
            <a:avLst/>
          </a:prstGeom>
        </p:spPr>
      </p:pic>
      <p:sp>
        <p:nvSpPr>
          <p:cNvPr id="8" name="TextBox 7"/>
          <p:cNvSpPr txBox="1"/>
          <p:nvPr/>
        </p:nvSpPr>
        <p:spPr>
          <a:xfrm>
            <a:off x="120502" y="6144899"/>
            <a:ext cx="11826953" cy="646331"/>
          </a:xfrm>
          <a:prstGeom prst="rect">
            <a:avLst/>
          </a:prstGeom>
          <a:noFill/>
        </p:spPr>
        <p:txBody>
          <a:bodyPr wrap="square" rtlCol="0">
            <a:spAutoFit/>
          </a:bodyPr>
          <a:lstStyle/>
          <a:p>
            <a:r>
              <a:rPr lang="en-AU" dirty="0" smtClean="0"/>
              <a:t>In early April I predicted the drop in Life Sat to be 0.5 Turns out to be 0.7. This is the biggest drop ever seen in the UK.</a:t>
            </a:r>
          </a:p>
          <a:p>
            <a:r>
              <a:rPr lang="en-AU" dirty="0" smtClean="0"/>
              <a:t>Note how Anxiety </a:t>
            </a:r>
            <a:r>
              <a:rPr lang="en-AU" dirty="0" err="1" smtClean="0"/>
              <a:t>ie</a:t>
            </a:r>
            <a:r>
              <a:rPr lang="en-AU" dirty="0" smtClean="0"/>
              <a:t> returning to normal, but life-satisfaction is not: people do not get used to loneliness and unemployment.</a:t>
            </a:r>
            <a:endParaRPr lang="en-AU" dirty="0"/>
          </a:p>
        </p:txBody>
      </p:sp>
    </p:spTree>
    <p:extLst>
      <p:ext uri="{BB962C8B-B14F-4D97-AF65-F5344CB8AC3E}">
        <p14:creationId xmlns:p14="http://schemas.microsoft.com/office/powerpoint/2010/main" val="1416475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Humorous notes</a:t>
            </a:r>
            <a:endParaRPr lang="en-AU" dirty="0"/>
          </a:p>
        </p:txBody>
      </p:sp>
      <p:sp>
        <p:nvSpPr>
          <p:cNvPr id="3" name="Content Placeholder 2"/>
          <p:cNvSpPr>
            <a:spLocks noGrp="1"/>
          </p:cNvSpPr>
          <p:nvPr>
            <p:ph idx="1"/>
          </p:nvPr>
        </p:nvSpPr>
        <p:spPr/>
        <p:txBody>
          <a:bodyPr/>
          <a:lstStyle/>
          <a:p>
            <a:r>
              <a:rPr lang="en-AU" dirty="0" smtClean="0"/>
              <a:t>The July 2020 update, unlike those for the previous years, starts the data it shows at the end of march, so you cant see the big drop.</a:t>
            </a:r>
          </a:p>
          <a:p>
            <a:r>
              <a:rPr lang="en-AU" dirty="0" smtClean="0"/>
              <a:t>The 2020 September wellbeing updates, which </a:t>
            </a:r>
            <a:r>
              <a:rPr lang="en-AU" dirty="0" err="1" smtClean="0"/>
              <a:t>th</a:t>
            </a:r>
            <a:r>
              <a:rPr lang="en-AU" dirty="0" smtClean="0"/>
              <a:t> </a:t>
            </a:r>
            <a:r>
              <a:rPr lang="en-AU" dirty="0" err="1" smtClean="0"/>
              <a:t>eONS</a:t>
            </a:r>
            <a:r>
              <a:rPr lang="en-AU" dirty="0" smtClean="0"/>
              <a:t> website claims were released September 10, are in fact all not yet published.</a:t>
            </a:r>
          </a:p>
          <a:p>
            <a:r>
              <a:rPr lang="en-AU" dirty="0" smtClean="0"/>
              <a:t>The </a:t>
            </a:r>
            <a:r>
              <a:rPr lang="en-AU" dirty="0" err="1" smtClean="0"/>
              <a:t>Oktober</a:t>
            </a:r>
            <a:r>
              <a:rPr lang="en-AU" dirty="0" smtClean="0"/>
              <a:t> 30</a:t>
            </a:r>
            <a:r>
              <a:rPr lang="en-AU" baseline="30000" dirty="0" smtClean="0"/>
              <a:t>th</a:t>
            </a:r>
            <a:r>
              <a:rPr lang="en-AU" dirty="0" smtClean="0"/>
              <a:t> Coronavirus roundup by the ONS does not show wellbeing. </a:t>
            </a:r>
          </a:p>
          <a:p>
            <a:endParaRPr lang="en-AU" dirty="0"/>
          </a:p>
          <a:p>
            <a:r>
              <a:rPr lang="en-AU" dirty="0" smtClean="0"/>
              <a:t>Somebody doesn’t want us to know….</a:t>
            </a:r>
            <a:endParaRPr lang="en-AU" dirty="0"/>
          </a:p>
        </p:txBody>
      </p:sp>
    </p:spTree>
    <p:extLst>
      <p:ext uri="{BB962C8B-B14F-4D97-AF65-F5344CB8AC3E}">
        <p14:creationId xmlns:p14="http://schemas.microsoft.com/office/powerpoint/2010/main" val="3707076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Imperial college data…</a:t>
            </a:r>
            <a:endParaRPr lang="en-AU" dirty="0"/>
          </a:p>
        </p:txBody>
      </p:sp>
      <p:sp>
        <p:nvSpPr>
          <p:cNvPr id="7" name="Content Placeholder 6"/>
          <p:cNvSpPr>
            <a:spLocks noGrp="1"/>
          </p:cNvSpPr>
          <p:nvPr>
            <p:ph idx="1"/>
          </p:nvPr>
        </p:nvSpPr>
        <p:spPr/>
        <p:txBody>
          <a:bodyPr/>
          <a:lstStyle/>
          <a:p>
            <a:r>
              <a:rPr lang="en-AU" dirty="0">
                <a:hlinkClick r:id="rId2"/>
              </a:rPr>
              <a:t>https://ichpanalytics.imperialcollegehealthpartners.com/t/BDAU/views/YougovCovid-19TrackerLifeSatisfaction-20200622_15961947288210/LifeSatisfaction?:iid=4&amp;:isGuestRedirectFromVizportal=y&amp;:</a:t>
            </a:r>
            <a:r>
              <a:rPr lang="en-AU" dirty="0" smtClean="0">
                <a:hlinkClick r:id="rId2"/>
              </a:rPr>
              <a:t>embed=y</a:t>
            </a:r>
            <a:endParaRPr lang="en-AU" dirty="0" smtClean="0"/>
          </a:p>
          <a:p>
            <a:endParaRPr lang="en-AU" dirty="0" smtClean="0"/>
          </a:p>
          <a:p>
            <a:r>
              <a:rPr lang="en-AU" dirty="0" smtClean="0"/>
              <a:t>Shows a complete </a:t>
            </a:r>
            <a:r>
              <a:rPr lang="en-AU" dirty="0" err="1" smtClean="0"/>
              <a:t>flatline</a:t>
            </a:r>
            <a:r>
              <a:rPr lang="en-AU" dirty="0" smtClean="0"/>
              <a:t>: life-satisfaction at the end of October is as low as it has been from the start of the March lockdowns (with a different baseline due to different set-up of the survey and a slightly different version of the question)</a:t>
            </a:r>
            <a:endParaRPr lang="en-AU" dirty="0"/>
          </a:p>
        </p:txBody>
      </p:sp>
    </p:spTree>
    <p:extLst>
      <p:ext uri="{BB962C8B-B14F-4D97-AF65-F5344CB8AC3E}">
        <p14:creationId xmlns:p14="http://schemas.microsoft.com/office/powerpoint/2010/main" val="3880859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77989" y="-1235326"/>
            <a:ext cx="14869989" cy="8093326"/>
          </a:xfrm>
          <a:prstGeom prst="rect">
            <a:avLst/>
          </a:prstGeom>
        </p:spPr>
      </p:pic>
    </p:spTree>
    <p:extLst>
      <p:ext uri="{BB962C8B-B14F-4D97-AF65-F5344CB8AC3E}">
        <p14:creationId xmlns:p14="http://schemas.microsoft.com/office/powerpoint/2010/main" val="4005208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0396" y="-67266"/>
            <a:ext cx="3861390" cy="1325563"/>
          </a:xfrm>
        </p:spPr>
        <p:txBody>
          <a:bodyPr/>
          <a:lstStyle/>
          <a:p>
            <a:r>
              <a:rPr lang="en-AU" dirty="0"/>
              <a:t>M</a:t>
            </a:r>
            <a:r>
              <a:rPr lang="en-AU" dirty="0" smtClean="0"/>
              <a:t>eaning</a:t>
            </a:r>
            <a:endParaRPr lang="en-AU" dirty="0"/>
          </a:p>
        </p:txBody>
      </p:sp>
      <p:sp>
        <p:nvSpPr>
          <p:cNvPr id="3" name="Content Placeholder 2"/>
          <p:cNvSpPr>
            <a:spLocks noGrp="1"/>
          </p:cNvSpPr>
          <p:nvPr>
            <p:ph idx="1"/>
          </p:nvPr>
        </p:nvSpPr>
        <p:spPr>
          <a:xfrm>
            <a:off x="482009" y="1438940"/>
            <a:ext cx="11709991" cy="5302102"/>
          </a:xfrm>
        </p:spPr>
        <p:txBody>
          <a:bodyPr>
            <a:normAutofit lnSpcReduction="10000"/>
          </a:bodyPr>
          <a:lstStyle/>
          <a:p>
            <a:r>
              <a:rPr lang="en-AU" dirty="0" smtClean="0"/>
              <a:t>Constant post-march wellbeing levels. So 0.7 down the whole period.</a:t>
            </a:r>
          </a:p>
          <a:p>
            <a:r>
              <a:rPr lang="en-AU" dirty="0" smtClean="0"/>
              <a:t>Huge loneliness and mental health problems in the UK. The misery is enormous. Its like 12% of all wellbeing is taken from everyone every day since March.</a:t>
            </a:r>
          </a:p>
          <a:p>
            <a:r>
              <a:rPr lang="en-AU" dirty="0" smtClean="0"/>
              <a:t>We thus now see about 30% of the population with depression or anxiety (up from 16% or so before).</a:t>
            </a:r>
          </a:p>
          <a:p>
            <a:r>
              <a:rPr lang="en-AU" dirty="0" smtClean="0"/>
              <a:t>Particularly the young (16-39) are miserable to an unprecedented degree.</a:t>
            </a:r>
          </a:p>
          <a:p>
            <a:endParaRPr lang="en-AU" dirty="0"/>
          </a:p>
          <a:p>
            <a:r>
              <a:rPr lang="en-AU" dirty="0" smtClean="0"/>
              <a:t>The UK is much more miserable than many other countries. The Netherlands had only 0.05 to 0.1 less wellbeing during lockdowns than before march or after may. Similar small number pertain to Germany and Scandinavia. The UK lockdowns are particularly socially damaging.</a:t>
            </a:r>
            <a:endParaRPr lang="en-AU" dirty="0"/>
          </a:p>
        </p:txBody>
      </p:sp>
    </p:spTree>
    <p:extLst>
      <p:ext uri="{BB962C8B-B14F-4D97-AF65-F5344CB8AC3E}">
        <p14:creationId xmlns:p14="http://schemas.microsoft.com/office/powerpoint/2010/main" val="20656227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7819" y="0"/>
            <a:ext cx="10515600" cy="1325563"/>
          </a:xfrm>
        </p:spPr>
        <p:txBody>
          <a:bodyPr/>
          <a:lstStyle/>
          <a:p>
            <a:r>
              <a:rPr lang="en-AU" dirty="0" smtClean="0"/>
              <a:t>Quick calculation</a:t>
            </a:r>
            <a:endParaRPr lang="en-AU" dirty="0"/>
          </a:p>
        </p:txBody>
      </p:sp>
      <p:sp>
        <p:nvSpPr>
          <p:cNvPr id="3" name="Content Placeholder 2"/>
          <p:cNvSpPr>
            <a:spLocks noGrp="1"/>
          </p:cNvSpPr>
          <p:nvPr>
            <p:ph idx="1"/>
          </p:nvPr>
        </p:nvSpPr>
        <p:spPr>
          <a:xfrm>
            <a:off x="824022" y="1527912"/>
            <a:ext cx="11219121" cy="5184775"/>
          </a:xfrm>
        </p:spPr>
        <p:txBody>
          <a:bodyPr>
            <a:normAutofit fontScale="92500"/>
          </a:bodyPr>
          <a:lstStyle/>
          <a:p>
            <a:r>
              <a:rPr lang="en-AU" dirty="0" smtClean="0"/>
              <a:t>The UK has a population of about </a:t>
            </a:r>
            <a:r>
              <a:rPr lang="en-AU" dirty="0" smtClean="0"/>
              <a:t>70 </a:t>
            </a:r>
            <a:r>
              <a:rPr lang="en-AU" dirty="0" smtClean="0"/>
              <a:t>million. A 0.7 drop in life-satisfaction is </a:t>
            </a:r>
            <a:r>
              <a:rPr lang="en-AU" dirty="0" smtClean="0"/>
              <a:t>49 </a:t>
            </a:r>
            <a:r>
              <a:rPr lang="en-AU" dirty="0" smtClean="0"/>
              <a:t>million WELLBY per year. That is equivalent to a loss of </a:t>
            </a:r>
            <a:r>
              <a:rPr lang="en-AU" dirty="0" smtClean="0"/>
              <a:t>8.1 </a:t>
            </a:r>
            <a:r>
              <a:rPr lang="en-AU" dirty="0" smtClean="0"/>
              <a:t>million healthy years of life. So per month this drop is over </a:t>
            </a:r>
            <a:r>
              <a:rPr lang="en-AU" dirty="0" smtClean="0"/>
              <a:t>680,000 </a:t>
            </a:r>
            <a:r>
              <a:rPr lang="en-AU" dirty="0" smtClean="0"/>
              <a:t>healthy years of life. </a:t>
            </a:r>
          </a:p>
          <a:p>
            <a:endParaRPr lang="en-AU" dirty="0" smtClean="0"/>
          </a:p>
          <a:p>
            <a:r>
              <a:rPr lang="en-AU" dirty="0" smtClean="0"/>
              <a:t>So if you </a:t>
            </a:r>
            <a:r>
              <a:rPr lang="en-AU" dirty="0" smtClean="0"/>
              <a:t>generously take </a:t>
            </a:r>
            <a:r>
              <a:rPr lang="en-AU" dirty="0" smtClean="0"/>
              <a:t>the average covid-19 victim </a:t>
            </a:r>
            <a:r>
              <a:rPr lang="en-AU" dirty="0" smtClean="0"/>
              <a:t>to have </a:t>
            </a:r>
            <a:r>
              <a:rPr lang="en-AU" dirty="0" smtClean="0"/>
              <a:t>5 more healthy years of </a:t>
            </a:r>
            <a:r>
              <a:rPr lang="en-AU" dirty="0" smtClean="0"/>
              <a:t>life, </a:t>
            </a:r>
            <a:r>
              <a:rPr lang="en-AU" dirty="0" smtClean="0"/>
              <a:t>the damage to life-satisfaction alone is equivalent to over </a:t>
            </a:r>
            <a:r>
              <a:rPr lang="en-AU" b="1" dirty="0" smtClean="0"/>
              <a:t>136,000 </a:t>
            </a:r>
            <a:r>
              <a:rPr lang="en-AU" b="1" dirty="0" smtClean="0"/>
              <a:t>covid-19 </a:t>
            </a:r>
            <a:r>
              <a:rPr lang="en-AU" dirty="0" smtClean="0"/>
              <a:t>deaths </a:t>
            </a:r>
            <a:r>
              <a:rPr lang="en-AU" b="1" dirty="0" smtClean="0"/>
              <a:t>per month</a:t>
            </a:r>
            <a:r>
              <a:rPr lang="en-AU" dirty="0" smtClean="0"/>
              <a:t>. This has </a:t>
            </a:r>
            <a:r>
              <a:rPr lang="en-AU" b="1" dirty="0" smtClean="0"/>
              <a:t>gone on for 7 months</a:t>
            </a:r>
            <a:r>
              <a:rPr lang="en-AU" dirty="0" smtClean="0"/>
              <a:t>.</a:t>
            </a:r>
            <a:endParaRPr lang="en-AU" dirty="0" smtClean="0"/>
          </a:p>
          <a:p>
            <a:endParaRPr lang="en-AU" dirty="0" smtClean="0"/>
          </a:p>
          <a:p>
            <a:r>
              <a:rPr lang="en-AU" dirty="0" smtClean="0"/>
              <a:t>In total the UK now has about </a:t>
            </a:r>
            <a:r>
              <a:rPr lang="en-AU" dirty="0" smtClean="0"/>
              <a:t>47,000 </a:t>
            </a:r>
            <a:r>
              <a:rPr lang="en-AU" dirty="0" smtClean="0"/>
              <a:t>recorded covid-19 deaths</a:t>
            </a:r>
            <a:r>
              <a:rPr lang="en-AU" dirty="0" smtClean="0"/>
              <a:t>.</a:t>
            </a:r>
          </a:p>
          <a:p>
            <a:r>
              <a:rPr lang="en-AU" dirty="0" smtClean="0"/>
              <a:t>So just via mental health and loneliness, the UK policies are doing more damage </a:t>
            </a:r>
            <a:r>
              <a:rPr lang="en-AU" b="1" dirty="0" smtClean="0"/>
              <a:t>every 11 days</a:t>
            </a:r>
            <a:r>
              <a:rPr lang="en-AU" dirty="0" smtClean="0"/>
              <a:t> than all the </a:t>
            </a:r>
            <a:r>
              <a:rPr lang="en-AU" dirty="0" err="1" smtClean="0"/>
              <a:t>covid</a:t>
            </a:r>
            <a:r>
              <a:rPr lang="en-AU" dirty="0" smtClean="0"/>
              <a:t>-deaths so far.</a:t>
            </a:r>
          </a:p>
          <a:p>
            <a:r>
              <a:rPr lang="en-AU" b="1" dirty="0" smtClean="0"/>
              <a:t>Per month, the wellbeing loss is higher than could possibly have been saved</a:t>
            </a:r>
            <a:r>
              <a:rPr lang="en-AU" dirty="0" smtClean="0"/>
              <a:t>.</a:t>
            </a:r>
            <a:endParaRPr lang="en-AU" dirty="0"/>
          </a:p>
        </p:txBody>
      </p:sp>
    </p:spTree>
    <p:extLst>
      <p:ext uri="{BB962C8B-B14F-4D97-AF65-F5344CB8AC3E}">
        <p14:creationId xmlns:p14="http://schemas.microsoft.com/office/powerpoint/2010/main" val="17882297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Length of life of </a:t>
            </a:r>
            <a:r>
              <a:rPr lang="en-AU" dirty="0" err="1" smtClean="0"/>
              <a:t>covid</a:t>
            </a:r>
            <a:r>
              <a:rPr lang="en-AU" dirty="0" smtClean="0"/>
              <a:t>-death</a:t>
            </a:r>
            <a:endParaRPr lang="en-AU" dirty="0"/>
          </a:p>
        </p:txBody>
      </p:sp>
      <p:sp>
        <p:nvSpPr>
          <p:cNvPr id="3" name="Content Placeholder 2"/>
          <p:cNvSpPr>
            <a:spLocks noGrp="1"/>
          </p:cNvSpPr>
          <p:nvPr>
            <p:ph idx="1"/>
          </p:nvPr>
        </p:nvSpPr>
        <p:spPr/>
        <p:txBody>
          <a:bodyPr/>
          <a:lstStyle/>
          <a:p>
            <a:r>
              <a:rPr lang="en-AU" dirty="0" smtClean="0"/>
              <a:t>Note the average age of a </a:t>
            </a:r>
            <a:r>
              <a:rPr lang="en-AU" dirty="0" err="1" smtClean="0"/>
              <a:t>covid</a:t>
            </a:r>
            <a:r>
              <a:rPr lang="en-AU" dirty="0" smtClean="0"/>
              <a:t>-death is about 82.</a:t>
            </a:r>
          </a:p>
          <a:p>
            <a:r>
              <a:rPr lang="en-AU" dirty="0" smtClean="0"/>
              <a:t>More than 50% was in nursing homes and retirement homes where people on average have about 1-2 happy year of life left.</a:t>
            </a:r>
          </a:p>
          <a:p>
            <a:r>
              <a:rPr lang="en-AU" dirty="0" smtClean="0"/>
              <a:t>Well over 90% of the rest also had sever health conditions.</a:t>
            </a:r>
            <a:endParaRPr lang="en-AU" dirty="0"/>
          </a:p>
        </p:txBody>
      </p:sp>
    </p:spTree>
    <p:extLst>
      <p:ext uri="{BB962C8B-B14F-4D97-AF65-F5344CB8AC3E}">
        <p14:creationId xmlns:p14="http://schemas.microsoft.com/office/powerpoint/2010/main" val="261036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04869"/>
            <a:ext cx="10515600" cy="1325563"/>
          </a:xfrm>
        </p:spPr>
        <p:txBody>
          <a:bodyPr/>
          <a:lstStyle/>
          <a:p>
            <a:r>
              <a:rPr lang="en-AU" dirty="0" smtClean="0"/>
              <a:t>Andrew Briggs on </a:t>
            </a:r>
            <a:r>
              <a:rPr lang="en-AU" dirty="0" err="1" smtClean="0"/>
              <a:t>covid</a:t>
            </a:r>
            <a:r>
              <a:rPr lang="en-AU" dirty="0" smtClean="0"/>
              <a:t> in the UK.</a:t>
            </a:r>
            <a:endParaRPr lang="en-AU" dirty="0"/>
          </a:p>
        </p:txBody>
      </p:sp>
      <p:graphicFrame>
        <p:nvGraphicFramePr>
          <p:cNvPr id="4" name="Content Placeholder 3"/>
          <p:cNvGraphicFramePr>
            <a:graphicFrameLocks noGrp="1"/>
          </p:cNvGraphicFramePr>
          <p:nvPr>
            <p:ph idx="1"/>
          </p:nvPr>
        </p:nvGraphicFramePr>
        <p:xfrm>
          <a:off x="622166" y="1956056"/>
          <a:ext cx="10610984" cy="3616863"/>
        </p:xfrm>
        <a:graphic>
          <a:graphicData uri="http://schemas.openxmlformats.org/drawingml/2006/table">
            <a:tbl>
              <a:tblPr>
                <a:tableStyleId>{5C22544A-7EE6-4342-B048-85BDC9FD1C3A}</a:tableStyleId>
              </a:tblPr>
              <a:tblGrid>
                <a:gridCol w="1151602">
                  <a:extLst>
                    <a:ext uri="{9D8B030D-6E8A-4147-A177-3AD203B41FA5}">
                      <a16:colId xmlns:a16="http://schemas.microsoft.com/office/drawing/2014/main" val="2666651540"/>
                    </a:ext>
                  </a:extLst>
                </a:gridCol>
                <a:gridCol w="280519">
                  <a:extLst>
                    <a:ext uri="{9D8B030D-6E8A-4147-A177-3AD203B41FA5}">
                      <a16:colId xmlns:a16="http://schemas.microsoft.com/office/drawing/2014/main" val="1097783808"/>
                    </a:ext>
                  </a:extLst>
                </a:gridCol>
                <a:gridCol w="959669">
                  <a:extLst>
                    <a:ext uri="{9D8B030D-6E8A-4147-A177-3AD203B41FA5}">
                      <a16:colId xmlns:a16="http://schemas.microsoft.com/office/drawing/2014/main" val="833914395"/>
                    </a:ext>
                  </a:extLst>
                </a:gridCol>
                <a:gridCol w="119590">
                  <a:extLst>
                    <a:ext uri="{9D8B030D-6E8A-4147-A177-3AD203B41FA5}">
                      <a16:colId xmlns:a16="http://schemas.microsoft.com/office/drawing/2014/main" val="4194904290"/>
                    </a:ext>
                  </a:extLst>
                </a:gridCol>
                <a:gridCol w="380914">
                  <a:extLst>
                    <a:ext uri="{9D8B030D-6E8A-4147-A177-3AD203B41FA5}">
                      <a16:colId xmlns:a16="http://schemas.microsoft.com/office/drawing/2014/main" val="3411512827"/>
                    </a:ext>
                  </a:extLst>
                </a:gridCol>
                <a:gridCol w="380914">
                  <a:extLst>
                    <a:ext uri="{9D8B030D-6E8A-4147-A177-3AD203B41FA5}">
                      <a16:colId xmlns:a16="http://schemas.microsoft.com/office/drawing/2014/main" val="1500967639"/>
                    </a:ext>
                  </a:extLst>
                </a:gridCol>
                <a:gridCol w="959669">
                  <a:extLst>
                    <a:ext uri="{9D8B030D-6E8A-4147-A177-3AD203B41FA5}">
                      <a16:colId xmlns:a16="http://schemas.microsoft.com/office/drawing/2014/main" val="4114619278"/>
                    </a:ext>
                  </a:extLst>
                </a:gridCol>
                <a:gridCol w="295282">
                  <a:extLst>
                    <a:ext uri="{9D8B030D-6E8A-4147-A177-3AD203B41FA5}">
                      <a16:colId xmlns:a16="http://schemas.microsoft.com/office/drawing/2014/main" val="4193609804"/>
                    </a:ext>
                  </a:extLst>
                </a:gridCol>
                <a:gridCol w="959669">
                  <a:extLst>
                    <a:ext uri="{9D8B030D-6E8A-4147-A177-3AD203B41FA5}">
                      <a16:colId xmlns:a16="http://schemas.microsoft.com/office/drawing/2014/main" val="191397338"/>
                    </a:ext>
                  </a:extLst>
                </a:gridCol>
                <a:gridCol w="959669">
                  <a:extLst>
                    <a:ext uri="{9D8B030D-6E8A-4147-A177-3AD203B41FA5}">
                      <a16:colId xmlns:a16="http://schemas.microsoft.com/office/drawing/2014/main" val="2511751913"/>
                    </a:ext>
                  </a:extLst>
                </a:gridCol>
                <a:gridCol w="959669">
                  <a:extLst>
                    <a:ext uri="{9D8B030D-6E8A-4147-A177-3AD203B41FA5}">
                      <a16:colId xmlns:a16="http://schemas.microsoft.com/office/drawing/2014/main" val="322504527"/>
                    </a:ext>
                  </a:extLst>
                </a:gridCol>
                <a:gridCol w="324811">
                  <a:extLst>
                    <a:ext uri="{9D8B030D-6E8A-4147-A177-3AD203B41FA5}">
                      <a16:colId xmlns:a16="http://schemas.microsoft.com/office/drawing/2014/main" val="750591212"/>
                    </a:ext>
                  </a:extLst>
                </a:gridCol>
                <a:gridCol w="959669">
                  <a:extLst>
                    <a:ext uri="{9D8B030D-6E8A-4147-A177-3AD203B41FA5}">
                      <a16:colId xmlns:a16="http://schemas.microsoft.com/office/drawing/2014/main" val="1358576239"/>
                    </a:ext>
                  </a:extLst>
                </a:gridCol>
                <a:gridCol w="959669">
                  <a:extLst>
                    <a:ext uri="{9D8B030D-6E8A-4147-A177-3AD203B41FA5}">
                      <a16:colId xmlns:a16="http://schemas.microsoft.com/office/drawing/2014/main" val="137043381"/>
                    </a:ext>
                  </a:extLst>
                </a:gridCol>
                <a:gridCol w="959669">
                  <a:extLst>
                    <a:ext uri="{9D8B030D-6E8A-4147-A177-3AD203B41FA5}">
                      <a16:colId xmlns:a16="http://schemas.microsoft.com/office/drawing/2014/main" val="1627101798"/>
                    </a:ext>
                  </a:extLst>
                </a:gridCol>
              </a:tblGrid>
              <a:tr h="425255">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3372</a:t>
                      </a:r>
                      <a:endParaRPr lang="en-AU" sz="1200" b="0" i="0" u="none" strike="noStrike">
                        <a:solidFill>
                          <a:srgbClr val="000000"/>
                        </a:solidFill>
                        <a:effectLst/>
                        <a:latin typeface="Calibri" panose="020F0502020204030204" pitchFamily="34" charset="0"/>
                      </a:endParaRPr>
                    </a:p>
                  </a:txBody>
                  <a:tcPr marL="3810" marR="3810" marT="3810" marB="0" anchor="b"/>
                </a:tc>
                <a:tc gridSpan="3">
                  <a:txBody>
                    <a:bodyPr/>
                    <a:lstStyle/>
                    <a:p>
                      <a:pPr algn="l" fontAlgn="b"/>
                      <a:r>
                        <a:rPr lang="en-AU" sz="1200" u="none" strike="noStrike">
                          <a:effectLst/>
                        </a:rPr>
                        <a:t>Total deaths from ONS</a:t>
                      </a:r>
                      <a:endParaRPr lang="en-AU" sz="1200" b="0" i="0" u="none" strike="noStrike">
                        <a:solidFill>
                          <a:srgbClr val="000000"/>
                        </a:solidFill>
                        <a:effectLst/>
                        <a:latin typeface="Calibri" panose="020F0502020204030204" pitchFamily="34" charset="0"/>
                      </a:endParaRPr>
                    </a:p>
                  </a:txBody>
                  <a:tcPr marL="3810" marR="3810" marT="3810" marB="0" anchor="b"/>
                </a:tc>
                <a:tc hMerge="1">
                  <a:txBody>
                    <a:bodyPr/>
                    <a:lstStyle/>
                    <a:p>
                      <a:endParaRPr lang="en-AU"/>
                    </a:p>
                  </a:txBody>
                  <a:tcPr/>
                </a:tc>
                <a:tc hMerge="1">
                  <a:txBody>
                    <a:bodyPr/>
                    <a:lstStyle/>
                    <a:p>
                      <a:endParaRPr lang="en-AU"/>
                    </a:p>
                  </a:txBody>
                  <a:tcPr/>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dirty="0">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341954688"/>
                  </a:ext>
                </a:extLst>
              </a:tr>
              <a:tr h="227972">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3130699724"/>
                  </a:ext>
                </a:extLst>
              </a:tr>
              <a:tr h="227972">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gridSpan="3">
                  <a:txBody>
                    <a:bodyPr/>
                    <a:lstStyle/>
                    <a:p>
                      <a:pPr algn="ctr" fontAlgn="b"/>
                      <a:r>
                        <a:rPr lang="en-AU" sz="1200" u="none" strike="noStrike">
                          <a:effectLst/>
                        </a:rPr>
                        <a:t>SMR=1 | qCM=100%</a:t>
                      </a:r>
                      <a:endParaRPr lang="en-AU" sz="1200" b="0" i="0" u="none" strike="noStrike">
                        <a:solidFill>
                          <a:srgbClr val="000000"/>
                        </a:solidFill>
                        <a:effectLst/>
                        <a:latin typeface="Calibri" panose="020F0502020204030204" pitchFamily="34" charset="0"/>
                      </a:endParaRPr>
                    </a:p>
                  </a:txBody>
                  <a:tcPr marL="3810" marR="3810" marT="3810" marB="0" anchor="b"/>
                </a:tc>
                <a:tc hMerge="1">
                  <a:txBody>
                    <a:bodyPr/>
                    <a:lstStyle/>
                    <a:p>
                      <a:endParaRPr lang="en-AU"/>
                    </a:p>
                  </a:txBody>
                  <a:tcPr/>
                </a:tc>
                <a:tc hMerge="1">
                  <a:txBody>
                    <a:bodyPr/>
                    <a:lstStyle/>
                    <a:p>
                      <a:endParaRPr lang="en-AU"/>
                    </a:p>
                  </a:txBody>
                  <a:tcPr/>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gridSpan="3">
                  <a:txBody>
                    <a:bodyPr/>
                    <a:lstStyle/>
                    <a:p>
                      <a:pPr algn="ctr" fontAlgn="b"/>
                      <a:r>
                        <a:rPr lang="en-AU" sz="1200" u="none" strike="noStrike">
                          <a:effectLst/>
                        </a:rPr>
                        <a:t>SMR=2 | qCM = 90%</a:t>
                      </a:r>
                      <a:endParaRPr lang="en-AU" sz="1200" b="0" i="0" u="none" strike="noStrike">
                        <a:solidFill>
                          <a:srgbClr val="000000"/>
                        </a:solidFill>
                        <a:effectLst/>
                        <a:latin typeface="Calibri" panose="020F0502020204030204" pitchFamily="34" charset="0"/>
                      </a:endParaRPr>
                    </a:p>
                  </a:txBody>
                  <a:tcPr marL="3810" marR="3810" marT="3810" marB="0" anchor="b"/>
                </a:tc>
                <a:tc hMerge="1">
                  <a:txBody>
                    <a:bodyPr/>
                    <a:lstStyle/>
                    <a:p>
                      <a:endParaRPr lang="en-AU"/>
                    </a:p>
                  </a:txBody>
                  <a:tcPr/>
                </a:tc>
                <a:tc hMerge="1">
                  <a:txBody>
                    <a:bodyPr/>
                    <a:lstStyle/>
                    <a:p>
                      <a:endParaRPr lang="en-AU"/>
                    </a:p>
                  </a:txBody>
                  <a:tcPr/>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gridSpan="3">
                  <a:txBody>
                    <a:bodyPr/>
                    <a:lstStyle/>
                    <a:p>
                      <a:pPr algn="ctr" fontAlgn="b"/>
                      <a:r>
                        <a:rPr lang="en-AU" sz="1200" u="none" strike="noStrike">
                          <a:effectLst/>
                        </a:rPr>
                        <a:t>SMR=3 | qCM=80%</a:t>
                      </a:r>
                      <a:endParaRPr lang="en-AU" sz="1200" b="0" i="0" u="none" strike="noStrike">
                        <a:solidFill>
                          <a:srgbClr val="000000"/>
                        </a:solidFill>
                        <a:effectLst/>
                        <a:latin typeface="Calibri" panose="020F0502020204030204" pitchFamily="34" charset="0"/>
                      </a:endParaRPr>
                    </a:p>
                  </a:txBody>
                  <a:tcPr marL="3810" marR="3810" marT="3810" marB="0" anchor="b"/>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499235307"/>
                  </a:ext>
                </a:extLst>
              </a:tr>
              <a:tr h="227972">
                <a:tc>
                  <a:txBody>
                    <a:bodyPr/>
                    <a:lstStyle/>
                    <a:p>
                      <a:pPr algn="l" fontAlgn="b"/>
                      <a:r>
                        <a:rPr lang="en-AU" sz="1200" u="none" strike="noStrike">
                          <a:effectLst/>
                        </a:rPr>
                        <a:t>Age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dist</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LE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QALE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dQALY</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LE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QALE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dQALY</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LE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QALE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dQALY</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3790980826"/>
                  </a:ext>
                </a:extLst>
              </a:tr>
              <a:tr h="227972">
                <a:tc>
                  <a:txBody>
                    <a:bodyPr/>
                    <a:lstStyle/>
                    <a:p>
                      <a:pPr algn="r" fontAlgn="b"/>
                      <a:r>
                        <a:rPr lang="en-AU" sz="1200" u="none" strike="noStrike">
                          <a:effectLst/>
                        </a:rPr>
                        <a:t>0-9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76.45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66.41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27.65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69.56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55.16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24.23</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65.34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46.38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21.07</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1966558663"/>
                  </a:ext>
                </a:extLst>
              </a:tr>
              <a:tr h="227972">
                <a:tc>
                  <a:txBody>
                    <a:bodyPr/>
                    <a:lstStyle/>
                    <a:p>
                      <a:pPr algn="r" fontAlgn="b"/>
                      <a:r>
                        <a:rPr lang="en-AU" sz="1200" u="none" strike="noStrike">
                          <a:effectLst/>
                        </a:rPr>
                        <a:t>10-19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66.51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56.46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25.54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59.66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46.24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22.16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55.49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38.48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19.10</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3396444131"/>
                  </a:ext>
                </a:extLst>
              </a:tr>
              <a:tr h="227972">
                <a:tc>
                  <a:txBody>
                    <a:bodyPr/>
                    <a:lstStyle/>
                    <a:p>
                      <a:pPr algn="r" fontAlgn="b"/>
                      <a:r>
                        <a:rPr lang="en-AU" sz="1200" u="none" strike="noStrike">
                          <a:effectLst/>
                        </a:rPr>
                        <a:t>20-29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56.69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47.07</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23.29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49.99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37.87</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19.89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45.94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31.13</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16.96</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100559225"/>
                  </a:ext>
                </a:extLst>
              </a:tr>
              <a:tr h="227972">
                <a:tc>
                  <a:txBody>
                    <a:bodyPr/>
                    <a:lstStyle/>
                    <a:p>
                      <a:pPr algn="r" fontAlgn="b"/>
                      <a:r>
                        <a:rPr lang="en-AU" sz="1200" u="none" strike="noStrike">
                          <a:effectLst/>
                        </a:rPr>
                        <a:t>30-39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46.98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38.05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20.68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40.50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29.90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17.30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36.63</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24.18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14.51</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1308877739"/>
                  </a:ext>
                </a:extLst>
              </a:tr>
              <a:tr h="227972">
                <a:tc>
                  <a:txBody>
                    <a:bodyPr/>
                    <a:lstStyle/>
                    <a:p>
                      <a:pPr algn="r" fontAlgn="b"/>
                      <a:r>
                        <a:rPr lang="en-AU" sz="1200" u="none" strike="noStrike">
                          <a:effectLst/>
                        </a:rPr>
                        <a:t>40-49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37.49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29.38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17.51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31.35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22.33</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14.17</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27.78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17.64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11.61</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486792309"/>
                  </a:ext>
                </a:extLst>
              </a:tr>
              <a:tr h="227972">
                <a:tc>
                  <a:txBody>
                    <a:bodyPr/>
                    <a:lstStyle/>
                    <a:p>
                      <a:pPr algn="r" fontAlgn="b"/>
                      <a:r>
                        <a:rPr lang="en-AU" sz="1200" u="none" strike="noStrike">
                          <a:effectLst/>
                        </a:rPr>
                        <a:t>50-59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28.36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21.61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14.21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22.78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15.71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10.99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19.64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12.04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8.72</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1082352411"/>
                  </a:ext>
                </a:extLst>
              </a:tr>
              <a:tr h="227972">
                <a:tc>
                  <a:txBody>
                    <a:bodyPr/>
                    <a:lstStyle/>
                    <a:p>
                      <a:pPr algn="r" fontAlgn="b"/>
                      <a:r>
                        <a:rPr lang="en-AU" sz="1200" u="none" strike="noStrike">
                          <a:effectLst/>
                        </a:rPr>
                        <a:t>60-69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19.86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14.76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10.75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15.11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10.12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7.82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12.59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7.46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5.94</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680254475"/>
                  </a:ext>
                </a:extLst>
              </a:tr>
              <a:tr h="227972">
                <a:tc>
                  <a:txBody>
                    <a:bodyPr/>
                    <a:lstStyle/>
                    <a:p>
                      <a:pPr algn="r" fontAlgn="b"/>
                      <a:r>
                        <a:rPr lang="en-AU" sz="1200" u="none" strike="noStrike">
                          <a:effectLst/>
                        </a:rPr>
                        <a:t>70-79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27%</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12.30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8.79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7.04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8.65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5.48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4.62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6.88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3.79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3.27</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2193142192"/>
                  </a:ext>
                </a:extLst>
              </a:tr>
              <a:tr h="227972">
                <a:tc>
                  <a:txBody>
                    <a:bodyPr/>
                    <a:lstStyle/>
                    <a:p>
                      <a:pPr algn="r" fontAlgn="b"/>
                      <a:r>
                        <a:rPr lang="en-AU" sz="1200" u="none" strike="noStrike">
                          <a:effectLst/>
                        </a:rPr>
                        <a:t>80-90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6.42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4.52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3.95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4.05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2.48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2.25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3.05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1.56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1.44</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1455077669"/>
                  </a:ext>
                </a:extLst>
              </a:tr>
              <a:tr h="227972">
                <a:tc>
                  <a:txBody>
                    <a:bodyPr/>
                    <a:lstStyle/>
                    <a:p>
                      <a:pPr algn="r" fontAlgn="b"/>
                      <a:r>
                        <a:rPr lang="en-AU" sz="1200" u="none" strike="noStrike">
                          <a:effectLst/>
                        </a:rPr>
                        <a:t>90-100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3.03</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2.06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1.91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1.72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0.95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0.90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1.24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0.51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0.49</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3741303164"/>
                  </a:ext>
                </a:extLst>
              </a:tr>
              <a:tr h="227972">
                <a:tc gridSpan="2">
                  <a:txBody>
                    <a:bodyPr/>
                    <a:lstStyle/>
                    <a:p>
                      <a:pPr algn="l" fontAlgn="b"/>
                      <a:r>
                        <a:rPr lang="en-AU" sz="1200" u="none" strike="noStrike">
                          <a:effectLst/>
                        </a:rPr>
                        <a:t>weighted mean</a:t>
                      </a:r>
                      <a:endParaRPr lang="en-AU" sz="1200" b="0" i="0" u="none" strike="noStrike">
                        <a:solidFill>
                          <a:srgbClr val="000000"/>
                        </a:solidFill>
                        <a:effectLst/>
                        <a:latin typeface="Calibri" panose="020F0502020204030204" pitchFamily="34" charset="0"/>
                      </a:endParaRPr>
                    </a:p>
                  </a:txBody>
                  <a:tcPr marL="3810" marR="3810" marT="3810" marB="0" anchor="b"/>
                </a:tc>
                <a:tc hMerge="1">
                  <a:txBody>
                    <a:bodyPr/>
                    <a:lstStyle/>
                    <a:p>
                      <a:endParaRPr lang="en-AU"/>
                    </a:p>
                  </a:txBody>
                  <a:tcPr/>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11.04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8.08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6.15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7.96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5.20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dirty="0">
                          <a:effectLst/>
                        </a:rPr>
                        <a:t>4.10</a:t>
                      </a:r>
                      <a:endParaRPr lang="en-AU" sz="1200" b="0" i="0" u="none" strike="noStrike" dirty="0">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dirty="0">
                          <a:effectLst/>
                        </a:rPr>
                        <a:t> </a:t>
                      </a:r>
                      <a:endParaRPr lang="en-AU" sz="1200" b="0" i="0" u="none" strike="noStrike" dirty="0">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6.48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3.70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dirty="0">
                          <a:effectLst/>
                        </a:rPr>
                        <a:t>2.97</a:t>
                      </a:r>
                      <a:endParaRPr lang="en-AU" sz="1200" b="0" i="0" u="none" strike="noStrike" dirty="0">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3984232700"/>
                  </a:ext>
                </a:extLst>
              </a:tr>
            </a:tbl>
          </a:graphicData>
        </a:graphic>
      </p:graphicFrame>
      <p:sp>
        <p:nvSpPr>
          <p:cNvPr id="6" name="TextBox 5"/>
          <p:cNvSpPr txBox="1"/>
          <p:nvPr/>
        </p:nvSpPr>
        <p:spPr>
          <a:xfrm>
            <a:off x="758858" y="5882325"/>
            <a:ext cx="11123628" cy="923330"/>
          </a:xfrm>
          <a:prstGeom prst="rect">
            <a:avLst/>
          </a:prstGeom>
          <a:noFill/>
        </p:spPr>
        <p:txBody>
          <a:bodyPr wrap="square" rtlCol="0">
            <a:spAutoFit/>
          </a:bodyPr>
          <a:lstStyle/>
          <a:p>
            <a:r>
              <a:rPr lang="en-AU" dirty="0" smtClean="0"/>
              <a:t>Bottom line: those who die with </a:t>
            </a:r>
            <a:r>
              <a:rPr lang="en-AU" dirty="0" err="1" smtClean="0"/>
              <a:t>covid</a:t>
            </a:r>
            <a:r>
              <a:rPr lang="en-AU" dirty="0" smtClean="0"/>
              <a:t> in the UK probably had 3-5 healthy years left to live on average. 3-5 QALY. 18-30 WELLBY. Until someone analyses the patient data though (which is not trivial to get), we wont know for sure. </a:t>
            </a:r>
          </a:p>
          <a:p>
            <a:r>
              <a:rPr lang="en-AU" dirty="0" smtClean="0"/>
              <a:t>Note, in </a:t>
            </a:r>
            <a:r>
              <a:rPr lang="en-AU" dirty="0" smtClean="0"/>
              <a:t>Italy and the Netherlands, </a:t>
            </a:r>
            <a:r>
              <a:rPr lang="en-AU" dirty="0" smtClean="0"/>
              <a:t>the </a:t>
            </a:r>
            <a:r>
              <a:rPr lang="en-AU" dirty="0" err="1" smtClean="0"/>
              <a:t>covid</a:t>
            </a:r>
            <a:r>
              <a:rPr lang="en-AU" dirty="0" smtClean="0"/>
              <a:t> deaths had less lost QALY.</a:t>
            </a:r>
            <a:endParaRPr lang="en-AU" dirty="0"/>
          </a:p>
        </p:txBody>
      </p:sp>
    </p:spTree>
    <p:extLst>
      <p:ext uri="{BB962C8B-B14F-4D97-AF65-F5344CB8AC3E}">
        <p14:creationId xmlns:p14="http://schemas.microsoft.com/office/powerpoint/2010/main" val="1557004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Second Crucial </a:t>
            </a:r>
            <a:r>
              <a:rPr lang="en-AU" dirty="0" err="1" smtClean="0"/>
              <a:t>tradeoff</a:t>
            </a:r>
            <a:r>
              <a:rPr lang="en-AU" dirty="0" smtClean="0"/>
              <a:t> number</a:t>
            </a:r>
            <a:endParaRPr lang="en-AU" dirty="0"/>
          </a:p>
        </p:txBody>
      </p:sp>
      <p:sp>
        <p:nvSpPr>
          <p:cNvPr id="3" name="Content Placeholder 2"/>
          <p:cNvSpPr>
            <a:spLocks noGrp="1"/>
          </p:cNvSpPr>
          <p:nvPr>
            <p:ph idx="1"/>
          </p:nvPr>
        </p:nvSpPr>
        <p:spPr>
          <a:xfrm>
            <a:off x="56707" y="1743740"/>
            <a:ext cx="11922641" cy="5032743"/>
          </a:xfrm>
        </p:spPr>
        <p:txBody>
          <a:bodyPr>
            <a:normAutofit fontScale="92500"/>
          </a:bodyPr>
          <a:lstStyle/>
          <a:p>
            <a:r>
              <a:rPr lang="en-AU" dirty="0" smtClean="0"/>
              <a:t>How many years of life and WELLBYs will be lost in the longer run when GDP drops?</a:t>
            </a:r>
          </a:p>
          <a:p>
            <a:endParaRPr lang="en-AU" dirty="0"/>
          </a:p>
          <a:p>
            <a:r>
              <a:rPr lang="en-AU" dirty="0" smtClean="0"/>
              <a:t>There are two basic types of evidence. Fortunately they give almost the same answer.</a:t>
            </a:r>
          </a:p>
          <a:p>
            <a:endParaRPr lang="en-AU" dirty="0"/>
          </a:p>
          <a:p>
            <a:r>
              <a:rPr lang="en-AU" dirty="0"/>
              <a:t>Consumer willingness to pay for a WELLBY puts the value of a regular year of life around </a:t>
            </a:r>
            <a:r>
              <a:rPr lang="en-AU" b="1" dirty="0"/>
              <a:t>60,000 Pounds</a:t>
            </a:r>
            <a:r>
              <a:rPr lang="en-AU" dirty="0"/>
              <a:t>. That is also what the </a:t>
            </a:r>
            <a:r>
              <a:rPr lang="en-AU" b="1" dirty="0"/>
              <a:t>UK government </a:t>
            </a:r>
            <a:r>
              <a:rPr lang="en-AU" dirty="0"/>
              <a:t>counts as the </a:t>
            </a:r>
            <a:r>
              <a:rPr lang="en-AU" b="1" dirty="0"/>
              <a:t>statistical value </a:t>
            </a:r>
            <a:r>
              <a:rPr lang="en-AU" dirty="0"/>
              <a:t>of a year of life, </a:t>
            </a:r>
            <a:r>
              <a:rPr lang="en-AU" dirty="0" err="1"/>
              <a:t>ie</a:t>
            </a:r>
            <a:r>
              <a:rPr lang="en-AU" dirty="0"/>
              <a:t> how much government and personal expenses are presumed to be worth. </a:t>
            </a:r>
            <a:endParaRPr lang="en-AU" dirty="0" smtClean="0"/>
          </a:p>
          <a:p>
            <a:endParaRPr lang="en-AU" dirty="0"/>
          </a:p>
          <a:p>
            <a:r>
              <a:rPr lang="en-AU" dirty="0"/>
              <a:t>Note that the claimed costs of saving a year of life via the NHS are</a:t>
            </a:r>
            <a:r>
              <a:rPr lang="en-AU" b="1" dirty="0"/>
              <a:t> four times lower</a:t>
            </a:r>
            <a:r>
              <a:rPr lang="en-AU" dirty="0"/>
              <a:t>, which would make the implicit damage of GDP reductions four times higher.</a:t>
            </a:r>
          </a:p>
          <a:p>
            <a:endParaRPr lang="en-AU" dirty="0"/>
          </a:p>
        </p:txBody>
      </p:sp>
    </p:spTree>
    <p:extLst>
      <p:ext uri="{BB962C8B-B14F-4D97-AF65-F5344CB8AC3E}">
        <p14:creationId xmlns:p14="http://schemas.microsoft.com/office/powerpoint/2010/main" val="21169170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Implication for the UK</a:t>
            </a:r>
            <a:endParaRPr lang="en-AU" dirty="0"/>
          </a:p>
        </p:txBody>
      </p:sp>
      <p:sp>
        <p:nvSpPr>
          <p:cNvPr id="3" name="Content Placeholder 2"/>
          <p:cNvSpPr>
            <a:spLocks noGrp="1"/>
          </p:cNvSpPr>
          <p:nvPr>
            <p:ph idx="1"/>
          </p:nvPr>
        </p:nvSpPr>
        <p:spPr>
          <a:xfrm>
            <a:off x="340242" y="1545265"/>
            <a:ext cx="11759061" cy="5246747"/>
          </a:xfrm>
        </p:spPr>
        <p:txBody>
          <a:bodyPr>
            <a:normAutofit lnSpcReduction="10000"/>
          </a:bodyPr>
          <a:lstStyle/>
          <a:p>
            <a:r>
              <a:rPr lang="en-AU" dirty="0" smtClean="0"/>
              <a:t>UK GDP was 2.21 trillion pounds in 2019.</a:t>
            </a:r>
          </a:p>
          <a:p>
            <a:r>
              <a:rPr lang="en-AU" dirty="0" smtClean="0"/>
              <a:t>In 2020 GDP is now expected to drop at least 10% over the whole year, </a:t>
            </a:r>
            <a:r>
              <a:rPr lang="en-AU" dirty="0" smtClean="0"/>
              <a:t>more during lock </a:t>
            </a:r>
            <a:r>
              <a:rPr lang="en-AU" dirty="0" smtClean="0"/>
              <a:t>down. </a:t>
            </a:r>
          </a:p>
          <a:p>
            <a:r>
              <a:rPr lang="en-AU" dirty="0"/>
              <a:t>R</a:t>
            </a:r>
            <a:r>
              <a:rPr lang="en-AU" dirty="0" smtClean="0"/>
              <a:t>eturning to previous levels is now expected to take years, so very conservatively, the UK will lose 3 times more </a:t>
            </a:r>
            <a:r>
              <a:rPr lang="en-AU" dirty="0" smtClean="0"/>
              <a:t>than the loss of 2020 before </a:t>
            </a:r>
            <a:r>
              <a:rPr lang="en-AU" dirty="0" smtClean="0"/>
              <a:t>it is back to baseline.</a:t>
            </a:r>
          </a:p>
          <a:p>
            <a:r>
              <a:rPr lang="en-AU" dirty="0" smtClean="0"/>
              <a:t>So one should expect a drop of 0.66 trillion GDP in the UK due to the crisis as a whole. That is thus the same as </a:t>
            </a:r>
            <a:r>
              <a:rPr lang="en-AU" b="1" dirty="0" smtClean="0"/>
              <a:t>11 million lost years of life</a:t>
            </a:r>
            <a:r>
              <a:rPr lang="en-AU" dirty="0"/>
              <a:t> </a:t>
            </a:r>
            <a:r>
              <a:rPr lang="en-AU" dirty="0" smtClean="0"/>
              <a:t>if one applies the official Statistical Value of Life number. If we’d only calculate the expected loss via expected reduced government health services, this would be </a:t>
            </a:r>
          </a:p>
          <a:p>
            <a:pPr lvl="1"/>
            <a:r>
              <a:rPr lang="en-AU" dirty="0" smtClean="0"/>
              <a:t>0.25*0.4*660,000,000,000/15,000 = fraction government spends on health * fraction of government to GDP * lost GDP / cost per year of life via the NHS = </a:t>
            </a:r>
            <a:r>
              <a:rPr lang="en-AU" b="1" dirty="0" smtClean="0"/>
              <a:t>4.4 million years of life</a:t>
            </a:r>
          </a:p>
        </p:txBody>
      </p:sp>
    </p:spTree>
    <p:extLst>
      <p:ext uri="{BB962C8B-B14F-4D97-AF65-F5344CB8AC3E}">
        <p14:creationId xmlns:p14="http://schemas.microsoft.com/office/powerpoint/2010/main" val="37616105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And for the world?</a:t>
            </a:r>
            <a:endParaRPr lang="en-AU" dirty="0"/>
          </a:p>
        </p:txBody>
      </p:sp>
      <p:sp>
        <p:nvSpPr>
          <p:cNvPr id="3" name="Content Placeholder 2"/>
          <p:cNvSpPr>
            <a:spLocks noGrp="1"/>
          </p:cNvSpPr>
          <p:nvPr>
            <p:ph idx="1"/>
          </p:nvPr>
        </p:nvSpPr>
        <p:spPr>
          <a:xfrm>
            <a:off x="838200" y="1531088"/>
            <a:ext cx="10515600" cy="4645875"/>
          </a:xfrm>
        </p:spPr>
        <p:txBody>
          <a:bodyPr>
            <a:normAutofit fontScale="92500" lnSpcReduction="20000"/>
          </a:bodyPr>
          <a:lstStyle/>
          <a:p>
            <a:endParaRPr lang="en-AU" dirty="0"/>
          </a:p>
          <a:p>
            <a:r>
              <a:rPr lang="en-AU" dirty="0" smtClean="0"/>
              <a:t>For each 10 trillion USD, the world loses at </a:t>
            </a:r>
            <a:r>
              <a:rPr lang="en-AU" dirty="0"/>
              <a:t>least 40 million regular life years, </a:t>
            </a:r>
            <a:r>
              <a:rPr lang="en-AU" dirty="0" err="1"/>
              <a:t>ie</a:t>
            </a:r>
            <a:r>
              <a:rPr lang="en-AU" dirty="0"/>
              <a:t> 40 million QALY and 240 million WELLBY. With rational government (other expenses have the same marginal benefit as health expenses), its 960 million WELLBY.</a:t>
            </a:r>
          </a:p>
          <a:p>
            <a:endParaRPr lang="en-AU" dirty="0"/>
          </a:p>
          <a:p>
            <a:r>
              <a:rPr lang="en-AU" dirty="0"/>
              <a:t>The initial and still current estimate is that in 2020-2021 alone the world economy will shrink by </a:t>
            </a:r>
            <a:r>
              <a:rPr lang="en-AU" dirty="0" smtClean="0"/>
              <a:t>12 </a:t>
            </a:r>
            <a:r>
              <a:rPr lang="en-AU" dirty="0"/>
              <a:t>trillion USD. Discounted over the next 10 years, the total loss of all reactions is easily 50 trillion.</a:t>
            </a:r>
          </a:p>
          <a:p>
            <a:endParaRPr lang="en-AU" dirty="0"/>
          </a:p>
          <a:p>
            <a:r>
              <a:rPr lang="en-AU" dirty="0"/>
              <a:t>50 trillion </a:t>
            </a:r>
            <a:r>
              <a:rPr lang="en-AU" dirty="0" smtClean="0"/>
              <a:t>USD </a:t>
            </a:r>
            <a:r>
              <a:rPr lang="en-AU" dirty="0"/>
              <a:t>is thus at least 200 million regular life years, or between 40 and 67 million “</a:t>
            </a:r>
            <a:r>
              <a:rPr lang="en-AU" dirty="0" err="1"/>
              <a:t>covid</a:t>
            </a:r>
            <a:r>
              <a:rPr lang="en-AU" dirty="0"/>
              <a:t> deaths”. More realistically, it is </a:t>
            </a:r>
            <a:r>
              <a:rPr lang="en-AU" dirty="0" smtClean="0"/>
              <a:t>10 </a:t>
            </a:r>
            <a:r>
              <a:rPr lang="en-AU" dirty="0"/>
              <a:t>times higher than that for the world as a whole.</a:t>
            </a:r>
          </a:p>
          <a:p>
            <a:endParaRPr lang="en-AU" dirty="0"/>
          </a:p>
        </p:txBody>
      </p:sp>
    </p:spTree>
    <p:extLst>
      <p:ext uri="{BB962C8B-B14F-4D97-AF65-F5344CB8AC3E}">
        <p14:creationId xmlns:p14="http://schemas.microsoft.com/office/powerpoint/2010/main" val="15915198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889" y="54040"/>
            <a:ext cx="10997476" cy="1325563"/>
          </a:xfrm>
        </p:spPr>
        <p:txBody>
          <a:bodyPr/>
          <a:lstStyle/>
          <a:p>
            <a:r>
              <a:rPr lang="en-AU" dirty="0" smtClean="0"/>
              <a:t>Third </a:t>
            </a:r>
            <a:r>
              <a:rPr lang="en-AU" dirty="0" err="1" smtClean="0"/>
              <a:t>tradeoff</a:t>
            </a:r>
            <a:r>
              <a:rPr lang="en-AU" dirty="0" smtClean="0"/>
              <a:t> number: costs of social isolation.</a:t>
            </a:r>
            <a:endParaRPr lang="en-AU" dirty="0"/>
          </a:p>
        </p:txBody>
      </p:sp>
      <p:sp>
        <p:nvSpPr>
          <p:cNvPr id="3" name="Content Placeholder 2"/>
          <p:cNvSpPr>
            <a:spLocks noGrp="1"/>
          </p:cNvSpPr>
          <p:nvPr>
            <p:ph idx="1"/>
          </p:nvPr>
        </p:nvSpPr>
        <p:spPr>
          <a:xfrm>
            <a:off x="229433" y="1480017"/>
            <a:ext cx="11684524" cy="5167311"/>
          </a:xfrm>
        </p:spPr>
        <p:txBody>
          <a:bodyPr>
            <a:normAutofit lnSpcReduction="10000"/>
          </a:bodyPr>
          <a:lstStyle/>
          <a:p>
            <a:r>
              <a:rPr lang="en-AU" dirty="0" smtClean="0"/>
              <a:t>The lock downs induce a </a:t>
            </a:r>
            <a:r>
              <a:rPr lang="en-AU" b="1" dirty="0" smtClean="0"/>
              <a:t>loneliness/anxiety effect of around 0.5-0.7 WELLBY </a:t>
            </a:r>
            <a:r>
              <a:rPr lang="en-AU" dirty="0" smtClean="0"/>
              <a:t>per individual. </a:t>
            </a:r>
            <a:r>
              <a:rPr lang="en-AU" dirty="0" smtClean="0"/>
              <a:t>We saw the ONS evidence. The </a:t>
            </a:r>
            <a:r>
              <a:rPr lang="en-AU" dirty="0" smtClean="0"/>
              <a:t>cleanest new evidence comes from “State of life” data in the UK that found that individuals who kept on working had no wellbeing loss, but the rest lost so much that the average loss was over 0.4. Other studies put this number higher (up to 0.8), hence let us take 0.5 as realistic. </a:t>
            </a:r>
          </a:p>
          <a:p>
            <a:endParaRPr lang="en-AU" dirty="0"/>
          </a:p>
          <a:p>
            <a:r>
              <a:rPr lang="en-AU" dirty="0" smtClean="0"/>
              <a:t>Note that a 0.5 WELLBY effect means for the UK:</a:t>
            </a:r>
          </a:p>
          <a:p>
            <a:pPr lvl="1"/>
            <a:r>
              <a:rPr lang="en-AU" dirty="0" smtClean="0"/>
              <a:t>You lose 30 million WELLBY per year.</a:t>
            </a:r>
          </a:p>
          <a:p>
            <a:endParaRPr lang="en-AU" dirty="0"/>
          </a:p>
          <a:p>
            <a:r>
              <a:rPr lang="en-AU" dirty="0" smtClean="0"/>
              <a:t>Per 1 billion inhabitants (“the West”), this cost is equivalent to between 1 and 2 million coronavirus deaths. Per Month.</a:t>
            </a:r>
            <a:endParaRPr lang="en-AU" dirty="0"/>
          </a:p>
        </p:txBody>
      </p:sp>
    </p:spTree>
    <p:extLst>
      <p:ext uri="{BB962C8B-B14F-4D97-AF65-F5344CB8AC3E}">
        <p14:creationId xmlns:p14="http://schemas.microsoft.com/office/powerpoint/2010/main" val="25327142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237259" cy="1325563"/>
          </a:xfrm>
        </p:spPr>
        <p:txBody>
          <a:bodyPr/>
          <a:lstStyle/>
          <a:p>
            <a:r>
              <a:rPr lang="en-AU" dirty="0" smtClean="0"/>
              <a:t>Fourth </a:t>
            </a:r>
            <a:r>
              <a:rPr lang="en-AU" dirty="0" err="1" smtClean="0"/>
              <a:t>tradeoff</a:t>
            </a:r>
            <a:r>
              <a:rPr lang="en-AU" dirty="0" smtClean="0"/>
              <a:t> number: cost of unemployment</a:t>
            </a:r>
            <a:endParaRPr lang="en-AU" dirty="0"/>
          </a:p>
        </p:txBody>
      </p:sp>
      <p:sp>
        <p:nvSpPr>
          <p:cNvPr id="3" name="Content Placeholder 2"/>
          <p:cNvSpPr>
            <a:spLocks noGrp="1"/>
          </p:cNvSpPr>
          <p:nvPr>
            <p:ph idx="1"/>
          </p:nvPr>
        </p:nvSpPr>
        <p:spPr>
          <a:xfrm>
            <a:off x="42421" y="1825624"/>
            <a:ext cx="12149579" cy="5032376"/>
          </a:xfrm>
        </p:spPr>
        <p:txBody>
          <a:bodyPr>
            <a:normAutofit lnSpcReduction="10000"/>
          </a:bodyPr>
          <a:lstStyle/>
          <a:p>
            <a:r>
              <a:rPr lang="en-AU" dirty="0" smtClean="0"/>
              <a:t>The unemployed lose at least 0.7 WELLBY per year of unemployment (Clark et al. 2019). The total effect on the whole community might be as high as 2 WELLBY.</a:t>
            </a:r>
          </a:p>
          <a:p>
            <a:endParaRPr lang="en-AU" dirty="0"/>
          </a:p>
          <a:p>
            <a:r>
              <a:rPr lang="en-AU" dirty="0" smtClean="0"/>
              <a:t>So 1 million unemployed for 1 year is equivalent to….</a:t>
            </a:r>
          </a:p>
          <a:p>
            <a:pPr lvl="1"/>
            <a:r>
              <a:rPr lang="en-AU" dirty="0" smtClean="0"/>
              <a:t>You </a:t>
            </a:r>
            <a:r>
              <a:rPr lang="en-AU" dirty="0"/>
              <a:t>lose </a:t>
            </a:r>
            <a:r>
              <a:rPr lang="en-AU" dirty="0" smtClean="0"/>
              <a:t>at least 700,000 </a:t>
            </a:r>
            <a:r>
              <a:rPr lang="en-AU" dirty="0"/>
              <a:t>WELLBY per year.</a:t>
            </a:r>
          </a:p>
          <a:p>
            <a:pPr lvl="1"/>
            <a:r>
              <a:rPr lang="en-AU" dirty="0"/>
              <a:t>That is about </a:t>
            </a:r>
            <a:r>
              <a:rPr lang="en-AU" dirty="0" smtClean="0"/>
              <a:t>116,700 </a:t>
            </a:r>
            <a:r>
              <a:rPr lang="en-AU" dirty="0"/>
              <a:t>regular years of life lost per year.</a:t>
            </a:r>
          </a:p>
          <a:p>
            <a:pPr lvl="1"/>
            <a:r>
              <a:rPr lang="en-AU" dirty="0"/>
              <a:t>That is equivalent to between </a:t>
            </a:r>
            <a:r>
              <a:rPr lang="en-AU" dirty="0" smtClean="0"/>
              <a:t>40,000  </a:t>
            </a:r>
            <a:r>
              <a:rPr lang="en-AU" dirty="0"/>
              <a:t>and </a:t>
            </a:r>
            <a:r>
              <a:rPr lang="en-AU" dirty="0" smtClean="0"/>
              <a:t>20,000 </a:t>
            </a:r>
            <a:r>
              <a:rPr lang="en-AU" dirty="0"/>
              <a:t>“corona victim deaths” per year.</a:t>
            </a:r>
          </a:p>
          <a:p>
            <a:pPr lvl="1"/>
            <a:r>
              <a:rPr lang="en-AU" dirty="0"/>
              <a:t>That is between </a:t>
            </a:r>
            <a:r>
              <a:rPr lang="en-AU" dirty="0" smtClean="0"/>
              <a:t>1700 </a:t>
            </a:r>
            <a:r>
              <a:rPr lang="en-AU" dirty="0"/>
              <a:t>and </a:t>
            </a:r>
            <a:r>
              <a:rPr lang="en-AU" dirty="0" smtClean="0"/>
              <a:t>3400 </a:t>
            </a:r>
            <a:r>
              <a:rPr lang="en-AU" dirty="0"/>
              <a:t>corona deaths per month</a:t>
            </a:r>
            <a:r>
              <a:rPr lang="en-AU" dirty="0" smtClean="0"/>
              <a:t>.</a:t>
            </a:r>
            <a:endParaRPr lang="en-AU" dirty="0"/>
          </a:p>
          <a:p>
            <a:pPr lvl="1"/>
            <a:r>
              <a:rPr lang="en-AU" dirty="0" smtClean="0"/>
              <a:t>This effect can be proportionately attributed to lock downs or other measures to the degree they cause more or extended unemployment years.</a:t>
            </a:r>
          </a:p>
          <a:p>
            <a:r>
              <a:rPr lang="en-AU" dirty="0" smtClean="0"/>
              <a:t>So 400 million additional unemployment years are equivalent to 8-16 million corona victim deaths. Minimally. More likely 3 times higher than that.</a:t>
            </a:r>
            <a:endParaRPr lang="en-AU" dirty="0"/>
          </a:p>
          <a:p>
            <a:endParaRPr lang="en-AU" dirty="0"/>
          </a:p>
        </p:txBody>
      </p:sp>
    </p:spTree>
    <p:extLst>
      <p:ext uri="{BB962C8B-B14F-4D97-AF65-F5344CB8AC3E}">
        <p14:creationId xmlns:p14="http://schemas.microsoft.com/office/powerpoint/2010/main" val="22310558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7437" y="43288"/>
            <a:ext cx="10515600" cy="591696"/>
          </a:xfrm>
        </p:spPr>
        <p:txBody>
          <a:bodyPr>
            <a:normAutofit fontScale="90000"/>
          </a:bodyPr>
          <a:lstStyle/>
          <a:p>
            <a:r>
              <a:rPr lang="en-AU" dirty="0" smtClean="0"/>
              <a:t>On unemployment:</a:t>
            </a:r>
            <a:endParaRPr lang="en-AU" dirty="0"/>
          </a:p>
        </p:txBody>
      </p:sp>
      <p:cxnSp>
        <p:nvCxnSpPr>
          <p:cNvPr id="5" name="Straight Connector 4"/>
          <p:cNvCxnSpPr/>
          <p:nvPr/>
        </p:nvCxnSpPr>
        <p:spPr>
          <a:xfrm flipH="1">
            <a:off x="934039" y="1695253"/>
            <a:ext cx="18854" cy="23378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a:off x="914400" y="4025245"/>
            <a:ext cx="2963159" cy="157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96086" y="4025245"/>
            <a:ext cx="1196026" cy="646331"/>
          </a:xfrm>
          <a:prstGeom prst="rect">
            <a:avLst/>
          </a:prstGeom>
          <a:noFill/>
        </p:spPr>
        <p:txBody>
          <a:bodyPr wrap="square" rtlCol="0">
            <a:spAutoFit/>
          </a:bodyPr>
          <a:lstStyle/>
          <a:p>
            <a:r>
              <a:rPr lang="en-AU" dirty="0" smtClean="0"/>
              <a:t>March 2020</a:t>
            </a:r>
            <a:endParaRPr lang="en-AU" dirty="0"/>
          </a:p>
        </p:txBody>
      </p:sp>
      <p:sp>
        <p:nvSpPr>
          <p:cNvPr id="13" name="TextBox 12"/>
          <p:cNvSpPr txBox="1"/>
          <p:nvPr/>
        </p:nvSpPr>
        <p:spPr>
          <a:xfrm>
            <a:off x="1797966" y="4040956"/>
            <a:ext cx="1196026" cy="646331"/>
          </a:xfrm>
          <a:prstGeom prst="rect">
            <a:avLst/>
          </a:prstGeom>
          <a:noFill/>
        </p:spPr>
        <p:txBody>
          <a:bodyPr wrap="square" rtlCol="0">
            <a:spAutoFit/>
          </a:bodyPr>
          <a:lstStyle/>
          <a:p>
            <a:r>
              <a:rPr lang="en-AU" dirty="0" smtClean="0"/>
              <a:t>March 2021</a:t>
            </a:r>
            <a:endParaRPr lang="en-AU" dirty="0"/>
          </a:p>
        </p:txBody>
      </p:sp>
      <p:sp>
        <p:nvSpPr>
          <p:cNvPr id="14" name="TextBox 13"/>
          <p:cNvSpPr txBox="1"/>
          <p:nvPr/>
        </p:nvSpPr>
        <p:spPr>
          <a:xfrm>
            <a:off x="2907972" y="4078663"/>
            <a:ext cx="1196026" cy="646331"/>
          </a:xfrm>
          <a:prstGeom prst="rect">
            <a:avLst/>
          </a:prstGeom>
          <a:noFill/>
        </p:spPr>
        <p:txBody>
          <a:bodyPr wrap="square" rtlCol="0">
            <a:spAutoFit/>
          </a:bodyPr>
          <a:lstStyle/>
          <a:p>
            <a:r>
              <a:rPr lang="en-AU" dirty="0" smtClean="0"/>
              <a:t>March 2022</a:t>
            </a:r>
            <a:endParaRPr lang="en-AU" dirty="0"/>
          </a:p>
        </p:txBody>
      </p:sp>
      <p:sp>
        <p:nvSpPr>
          <p:cNvPr id="15" name="TextBox 14"/>
          <p:cNvSpPr txBox="1"/>
          <p:nvPr/>
        </p:nvSpPr>
        <p:spPr>
          <a:xfrm>
            <a:off x="35743" y="1585274"/>
            <a:ext cx="1196026" cy="369332"/>
          </a:xfrm>
          <a:prstGeom prst="rect">
            <a:avLst/>
          </a:prstGeom>
          <a:noFill/>
        </p:spPr>
        <p:txBody>
          <a:bodyPr wrap="square" rtlCol="0">
            <a:spAutoFit/>
          </a:bodyPr>
          <a:lstStyle/>
          <a:p>
            <a:r>
              <a:rPr lang="en-AU" dirty="0" smtClean="0"/>
              <a:t>200 mil</a:t>
            </a:r>
            <a:endParaRPr lang="en-AU" dirty="0"/>
          </a:p>
        </p:txBody>
      </p:sp>
      <p:cxnSp>
        <p:nvCxnSpPr>
          <p:cNvPr id="16" name="Straight Connector 15"/>
          <p:cNvCxnSpPr/>
          <p:nvPr/>
        </p:nvCxnSpPr>
        <p:spPr>
          <a:xfrm flipH="1">
            <a:off x="6964052" y="212103"/>
            <a:ext cx="68344" cy="37790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6944414" y="3966572"/>
            <a:ext cx="4485586" cy="3245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526099" y="3983313"/>
            <a:ext cx="1196026" cy="646331"/>
          </a:xfrm>
          <a:prstGeom prst="rect">
            <a:avLst/>
          </a:prstGeom>
          <a:noFill/>
        </p:spPr>
        <p:txBody>
          <a:bodyPr wrap="square" rtlCol="0">
            <a:spAutoFit/>
          </a:bodyPr>
          <a:lstStyle/>
          <a:p>
            <a:r>
              <a:rPr lang="en-AU" dirty="0" smtClean="0"/>
              <a:t>March 2020</a:t>
            </a:r>
            <a:endParaRPr lang="en-AU" dirty="0"/>
          </a:p>
        </p:txBody>
      </p:sp>
      <p:sp>
        <p:nvSpPr>
          <p:cNvPr id="19" name="TextBox 18"/>
          <p:cNvSpPr txBox="1"/>
          <p:nvPr/>
        </p:nvSpPr>
        <p:spPr>
          <a:xfrm>
            <a:off x="7827979" y="3999024"/>
            <a:ext cx="1196026" cy="646331"/>
          </a:xfrm>
          <a:prstGeom prst="rect">
            <a:avLst/>
          </a:prstGeom>
          <a:noFill/>
        </p:spPr>
        <p:txBody>
          <a:bodyPr wrap="square" rtlCol="0">
            <a:spAutoFit/>
          </a:bodyPr>
          <a:lstStyle/>
          <a:p>
            <a:r>
              <a:rPr lang="en-AU" dirty="0" smtClean="0"/>
              <a:t>March 2021</a:t>
            </a:r>
            <a:endParaRPr lang="en-AU" dirty="0"/>
          </a:p>
        </p:txBody>
      </p:sp>
      <p:sp>
        <p:nvSpPr>
          <p:cNvPr id="20" name="TextBox 19"/>
          <p:cNvSpPr txBox="1"/>
          <p:nvPr/>
        </p:nvSpPr>
        <p:spPr>
          <a:xfrm>
            <a:off x="8844307" y="3979193"/>
            <a:ext cx="1196026" cy="646331"/>
          </a:xfrm>
          <a:prstGeom prst="rect">
            <a:avLst/>
          </a:prstGeom>
          <a:noFill/>
        </p:spPr>
        <p:txBody>
          <a:bodyPr wrap="square" rtlCol="0">
            <a:spAutoFit/>
          </a:bodyPr>
          <a:lstStyle/>
          <a:p>
            <a:r>
              <a:rPr lang="en-AU" dirty="0" smtClean="0"/>
              <a:t>March 2022</a:t>
            </a:r>
            <a:endParaRPr lang="en-AU" dirty="0"/>
          </a:p>
        </p:txBody>
      </p:sp>
      <p:sp>
        <p:nvSpPr>
          <p:cNvPr id="21" name="TextBox 20"/>
          <p:cNvSpPr txBox="1"/>
          <p:nvPr/>
        </p:nvSpPr>
        <p:spPr>
          <a:xfrm>
            <a:off x="6062908" y="1904222"/>
            <a:ext cx="1196026" cy="369332"/>
          </a:xfrm>
          <a:prstGeom prst="rect">
            <a:avLst/>
          </a:prstGeom>
          <a:noFill/>
        </p:spPr>
        <p:txBody>
          <a:bodyPr wrap="square" rtlCol="0">
            <a:spAutoFit/>
          </a:bodyPr>
          <a:lstStyle/>
          <a:p>
            <a:r>
              <a:rPr lang="en-AU" dirty="0" smtClean="0"/>
              <a:t>200 mil</a:t>
            </a:r>
            <a:endParaRPr lang="en-AU" dirty="0"/>
          </a:p>
        </p:txBody>
      </p:sp>
      <p:cxnSp>
        <p:nvCxnSpPr>
          <p:cNvPr id="23" name="Straight Connector 22"/>
          <p:cNvCxnSpPr/>
          <p:nvPr/>
        </p:nvCxnSpPr>
        <p:spPr>
          <a:xfrm flipV="1">
            <a:off x="934039" y="1505635"/>
            <a:ext cx="403584" cy="251961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flipV="1">
            <a:off x="1337623" y="1543342"/>
            <a:ext cx="1964313" cy="249761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92893" y="2637578"/>
            <a:ext cx="1196026" cy="369332"/>
          </a:xfrm>
          <a:prstGeom prst="rect">
            <a:avLst/>
          </a:prstGeom>
          <a:noFill/>
        </p:spPr>
        <p:txBody>
          <a:bodyPr wrap="square" rtlCol="0">
            <a:spAutoFit/>
          </a:bodyPr>
          <a:lstStyle/>
          <a:p>
            <a:r>
              <a:rPr lang="el-GR" dirty="0" smtClean="0"/>
              <a:t>Δ</a:t>
            </a:r>
            <a:r>
              <a:rPr lang="en-AU" dirty="0" err="1" smtClean="0"/>
              <a:t>Unem</a:t>
            </a:r>
            <a:endParaRPr lang="en-AU" dirty="0"/>
          </a:p>
        </p:txBody>
      </p:sp>
      <p:cxnSp>
        <p:nvCxnSpPr>
          <p:cNvPr id="32" name="Straight Connector 31"/>
          <p:cNvCxnSpPr/>
          <p:nvPr/>
        </p:nvCxnSpPr>
        <p:spPr>
          <a:xfrm>
            <a:off x="1583703" y="3610466"/>
            <a:ext cx="273377" cy="177695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258934" y="5123468"/>
            <a:ext cx="4723320" cy="1477328"/>
          </a:xfrm>
          <a:prstGeom prst="rect">
            <a:avLst/>
          </a:prstGeom>
          <a:noFill/>
        </p:spPr>
        <p:txBody>
          <a:bodyPr wrap="square" rtlCol="0">
            <a:spAutoFit/>
          </a:bodyPr>
          <a:lstStyle/>
          <a:p>
            <a:r>
              <a:rPr lang="en-AU" dirty="0" smtClean="0"/>
              <a:t>More usual recession scenario reflecting actual loss of productive things to do and usual time till normality in a depression. Would mean additional roughly 800 million net unemployment years in the whole world.</a:t>
            </a:r>
            <a:endParaRPr lang="en-AU" dirty="0"/>
          </a:p>
        </p:txBody>
      </p:sp>
      <p:cxnSp>
        <p:nvCxnSpPr>
          <p:cNvPr id="35" name="Straight Connector 34"/>
          <p:cNvCxnSpPr/>
          <p:nvPr/>
        </p:nvCxnSpPr>
        <p:spPr>
          <a:xfrm flipV="1">
            <a:off x="6968765" y="204247"/>
            <a:ext cx="514744" cy="376928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flipV="1">
            <a:off x="7487437" y="204247"/>
            <a:ext cx="3725747" cy="370787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6127619" y="2792149"/>
            <a:ext cx="1196026" cy="369332"/>
          </a:xfrm>
          <a:prstGeom prst="rect">
            <a:avLst/>
          </a:prstGeom>
          <a:noFill/>
        </p:spPr>
        <p:txBody>
          <a:bodyPr wrap="square" rtlCol="0">
            <a:spAutoFit/>
          </a:bodyPr>
          <a:lstStyle/>
          <a:p>
            <a:r>
              <a:rPr lang="el-GR" dirty="0" smtClean="0"/>
              <a:t>Δ</a:t>
            </a:r>
            <a:r>
              <a:rPr lang="en-AU" dirty="0" err="1" smtClean="0"/>
              <a:t>Unem</a:t>
            </a:r>
            <a:endParaRPr lang="en-AU" dirty="0"/>
          </a:p>
        </p:txBody>
      </p:sp>
      <p:sp>
        <p:nvSpPr>
          <p:cNvPr id="40" name="TextBox 39"/>
          <p:cNvSpPr txBox="1"/>
          <p:nvPr/>
        </p:nvSpPr>
        <p:spPr>
          <a:xfrm>
            <a:off x="6127619" y="84914"/>
            <a:ext cx="1196026" cy="369332"/>
          </a:xfrm>
          <a:prstGeom prst="rect">
            <a:avLst/>
          </a:prstGeom>
          <a:noFill/>
        </p:spPr>
        <p:txBody>
          <a:bodyPr wrap="square" rtlCol="0">
            <a:spAutoFit/>
          </a:bodyPr>
          <a:lstStyle/>
          <a:p>
            <a:r>
              <a:rPr lang="en-AU" dirty="0"/>
              <a:t>4</a:t>
            </a:r>
            <a:r>
              <a:rPr lang="en-AU" dirty="0" smtClean="0"/>
              <a:t>00 mil</a:t>
            </a:r>
            <a:endParaRPr lang="en-AU" dirty="0"/>
          </a:p>
        </p:txBody>
      </p:sp>
      <p:sp>
        <p:nvSpPr>
          <p:cNvPr id="44" name="TextBox 43"/>
          <p:cNvSpPr txBox="1"/>
          <p:nvPr/>
        </p:nvSpPr>
        <p:spPr>
          <a:xfrm>
            <a:off x="9730427" y="3983313"/>
            <a:ext cx="1196026" cy="646331"/>
          </a:xfrm>
          <a:prstGeom prst="rect">
            <a:avLst/>
          </a:prstGeom>
          <a:noFill/>
        </p:spPr>
        <p:txBody>
          <a:bodyPr wrap="square" rtlCol="0">
            <a:spAutoFit/>
          </a:bodyPr>
          <a:lstStyle/>
          <a:p>
            <a:r>
              <a:rPr lang="en-AU" dirty="0" smtClean="0"/>
              <a:t>March 2023</a:t>
            </a:r>
            <a:endParaRPr lang="en-AU" dirty="0"/>
          </a:p>
        </p:txBody>
      </p:sp>
      <p:sp>
        <p:nvSpPr>
          <p:cNvPr id="45" name="TextBox 44"/>
          <p:cNvSpPr txBox="1"/>
          <p:nvPr/>
        </p:nvSpPr>
        <p:spPr>
          <a:xfrm>
            <a:off x="10786228" y="3966572"/>
            <a:ext cx="1196026" cy="646331"/>
          </a:xfrm>
          <a:prstGeom prst="rect">
            <a:avLst/>
          </a:prstGeom>
          <a:noFill/>
        </p:spPr>
        <p:txBody>
          <a:bodyPr wrap="square" rtlCol="0">
            <a:spAutoFit/>
          </a:bodyPr>
          <a:lstStyle/>
          <a:p>
            <a:r>
              <a:rPr lang="en-AU" dirty="0" smtClean="0"/>
              <a:t>March 2024</a:t>
            </a:r>
            <a:endParaRPr lang="en-AU" dirty="0"/>
          </a:p>
        </p:txBody>
      </p:sp>
      <p:cxnSp>
        <p:nvCxnSpPr>
          <p:cNvPr id="46" name="Straight Connector 45"/>
          <p:cNvCxnSpPr/>
          <p:nvPr/>
        </p:nvCxnSpPr>
        <p:spPr>
          <a:xfrm>
            <a:off x="8518003" y="3136768"/>
            <a:ext cx="273377" cy="177695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92893" y="5473841"/>
            <a:ext cx="4366771" cy="923330"/>
          </a:xfrm>
          <a:prstGeom prst="rect">
            <a:avLst/>
          </a:prstGeom>
          <a:noFill/>
        </p:spPr>
        <p:txBody>
          <a:bodyPr wrap="square" rtlCol="0">
            <a:spAutoFit/>
          </a:bodyPr>
          <a:lstStyle/>
          <a:p>
            <a:r>
              <a:rPr lang="en-AU" dirty="0" smtClean="0"/>
              <a:t>Optimistic quick recovery scenario, only an additional 200 million net unemployment years in the whole world.</a:t>
            </a:r>
            <a:endParaRPr lang="en-AU" dirty="0"/>
          </a:p>
        </p:txBody>
      </p:sp>
    </p:spTree>
    <p:extLst>
      <p:ext uri="{BB962C8B-B14F-4D97-AF65-F5344CB8AC3E}">
        <p14:creationId xmlns:p14="http://schemas.microsoft.com/office/powerpoint/2010/main" val="19723761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H="1">
            <a:off x="3127159" y="1543361"/>
            <a:ext cx="68344" cy="37790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a:off x="3107521" y="5297830"/>
            <a:ext cx="4485586" cy="3245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689206" y="5314571"/>
            <a:ext cx="1196026" cy="369332"/>
          </a:xfrm>
          <a:prstGeom prst="rect">
            <a:avLst/>
          </a:prstGeom>
          <a:noFill/>
        </p:spPr>
        <p:txBody>
          <a:bodyPr wrap="square" rtlCol="0">
            <a:spAutoFit/>
          </a:bodyPr>
          <a:lstStyle/>
          <a:p>
            <a:r>
              <a:rPr lang="en-AU" dirty="0" smtClean="0"/>
              <a:t>Q1 2020</a:t>
            </a:r>
            <a:endParaRPr lang="en-AU" dirty="0"/>
          </a:p>
        </p:txBody>
      </p:sp>
      <p:sp>
        <p:nvSpPr>
          <p:cNvPr id="7" name="TextBox 6"/>
          <p:cNvSpPr txBox="1"/>
          <p:nvPr/>
        </p:nvSpPr>
        <p:spPr>
          <a:xfrm>
            <a:off x="3693947" y="5320058"/>
            <a:ext cx="1196026" cy="369332"/>
          </a:xfrm>
          <a:prstGeom prst="rect">
            <a:avLst/>
          </a:prstGeom>
          <a:noFill/>
        </p:spPr>
        <p:txBody>
          <a:bodyPr wrap="square" rtlCol="0">
            <a:spAutoFit/>
          </a:bodyPr>
          <a:lstStyle/>
          <a:p>
            <a:r>
              <a:rPr lang="en-AU" dirty="0" smtClean="0"/>
              <a:t>Q1 2021</a:t>
            </a:r>
            <a:endParaRPr lang="en-AU" dirty="0"/>
          </a:p>
        </p:txBody>
      </p:sp>
      <p:sp>
        <p:nvSpPr>
          <p:cNvPr id="8" name="TextBox 7"/>
          <p:cNvSpPr txBox="1"/>
          <p:nvPr/>
        </p:nvSpPr>
        <p:spPr>
          <a:xfrm>
            <a:off x="4664926" y="5309554"/>
            <a:ext cx="1196026" cy="369332"/>
          </a:xfrm>
          <a:prstGeom prst="rect">
            <a:avLst/>
          </a:prstGeom>
          <a:noFill/>
        </p:spPr>
        <p:txBody>
          <a:bodyPr wrap="square" rtlCol="0">
            <a:spAutoFit/>
          </a:bodyPr>
          <a:lstStyle/>
          <a:p>
            <a:r>
              <a:rPr lang="en-AU" dirty="0" smtClean="0"/>
              <a:t>Q1 2022</a:t>
            </a:r>
            <a:endParaRPr lang="en-AU" dirty="0"/>
          </a:p>
        </p:txBody>
      </p:sp>
      <p:sp>
        <p:nvSpPr>
          <p:cNvPr id="9" name="TextBox 8"/>
          <p:cNvSpPr txBox="1"/>
          <p:nvPr/>
        </p:nvSpPr>
        <p:spPr>
          <a:xfrm>
            <a:off x="1913966" y="3241607"/>
            <a:ext cx="1431875" cy="369332"/>
          </a:xfrm>
          <a:prstGeom prst="rect">
            <a:avLst/>
          </a:prstGeom>
          <a:noFill/>
        </p:spPr>
        <p:txBody>
          <a:bodyPr wrap="square" rtlCol="0">
            <a:spAutoFit/>
          </a:bodyPr>
          <a:lstStyle/>
          <a:p>
            <a:r>
              <a:rPr lang="en-AU" dirty="0" smtClean="0"/>
              <a:t>20.5 trillion</a:t>
            </a:r>
            <a:endParaRPr lang="en-AU" dirty="0"/>
          </a:p>
        </p:txBody>
      </p:sp>
      <p:cxnSp>
        <p:nvCxnSpPr>
          <p:cNvPr id="10" name="Straight Connector 9"/>
          <p:cNvCxnSpPr/>
          <p:nvPr/>
        </p:nvCxnSpPr>
        <p:spPr>
          <a:xfrm>
            <a:off x="3161331" y="3449010"/>
            <a:ext cx="125888" cy="811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113562" y="3586504"/>
            <a:ext cx="1196026" cy="369332"/>
          </a:xfrm>
          <a:prstGeom prst="rect">
            <a:avLst/>
          </a:prstGeom>
          <a:noFill/>
        </p:spPr>
        <p:txBody>
          <a:bodyPr wrap="square" rtlCol="0">
            <a:spAutoFit/>
          </a:bodyPr>
          <a:lstStyle/>
          <a:p>
            <a:r>
              <a:rPr lang="en-AU" dirty="0" smtClean="0"/>
              <a:t>18 trillion</a:t>
            </a:r>
            <a:endParaRPr lang="en-AU" dirty="0"/>
          </a:p>
        </p:txBody>
      </p:sp>
      <p:sp>
        <p:nvSpPr>
          <p:cNvPr id="13" name="TextBox 12"/>
          <p:cNvSpPr txBox="1"/>
          <p:nvPr/>
        </p:nvSpPr>
        <p:spPr>
          <a:xfrm>
            <a:off x="6406290" y="1557365"/>
            <a:ext cx="1196026" cy="646331"/>
          </a:xfrm>
          <a:prstGeom prst="rect">
            <a:avLst/>
          </a:prstGeom>
          <a:noFill/>
        </p:spPr>
        <p:txBody>
          <a:bodyPr wrap="square" rtlCol="0">
            <a:spAutoFit/>
          </a:bodyPr>
          <a:lstStyle/>
          <a:p>
            <a:r>
              <a:rPr lang="en-AU" dirty="0" smtClean="0"/>
              <a:t>Quarterly world GDP</a:t>
            </a:r>
            <a:endParaRPr lang="en-AU" dirty="0"/>
          </a:p>
        </p:txBody>
      </p:sp>
      <p:sp>
        <p:nvSpPr>
          <p:cNvPr id="14" name="TextBox 13"/>
          <p:cNvSpPr txBox="1"/>
          <p:nvPr/>
        </p:nvSpPr>
        <p:spPr>
          <a:xfrm>
            <a:off x="7513118" y="5243382"/>
            <a:ext cx="1196026" cy="369332"/>
          </a:xfrm>
          <a:prstGeom prst="rect">
            <a:avLst/>
          </a:prstGeom>
          <a:noFill/>
        </p:spPr>
        <p:txBody>
          <a:bodyPr wrap="square" rtlCol="0">
            <a:spAutoFit/>
          </a:bodyPr>
          <a:lstStyle/>
          <a:p>
            <a:r>
              <a:rPr lang="en-AU" dirty="0" smtClean="0"/>
              <a:t>Q1 2028</a:t>
            </a:r>
            <a:endParaRPr lang="en-AU" dirty="0"/>
          </a:p>
        </p:txBody>
      </p:sp>
      <p:sp>
        <p:nvSpPr>
          <p:cNvPr id="15" name="TextBox 14"/>
          <p:cNvSpPr txBox="1"/>
          <p:nvPr/>
        </p:nvSpPr>
        <p:spPr>
          <a:xfrm>
            <a:off x="2113562" y="2864419"/>
            <a:ext cx="1196026" cy="369332"/>
          </a:xfrm>
          <a:prstGeom prst="rect">
            <a:avLst/>
          </a:prstGeom>
          <a:noFill/>
        </p:spPr>
        <p:txBody>
          <a:bodyPr wrap="square" rtlCol="0">
            <a:spAutoFit/>
          </a:bodyPr>
          <a:lstStyle/>
          <a:p>
            <a:r>
              <a:rPr lang="en-AU" dirty="0" smtClean="0"/>
              <a:t>23 trillion</a:t>
            </a:r>
            <a:endParaRPr lang="en-AU" dirty="0"/>
          </a:p>
        </p:txBody>
      </p:sp>
      <p:cxnSp>
        <p:nvCxnSpPr>
          <p:cNvPr id="18" name="Straight Connector 17"/>
          <p:cNvCxnSpPr/>
          <p:nvPr/>
        </p:nvCxnSpPr>
        <p:spPr>
          <a:xfrm>
            <a:off x="3287219" y="3521944"/>
            <a:ext cx="110063" cy="29639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3387818" y="3813615"/>
            <a:ext cx="189101" cy="2146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3573407" y="3527151"/>
            <a:ext cx="1774786" cy="311535"/>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8" name="Freeform 27"/>
          <p:cNvSpPr/>
          <p:nvPr/>
        </p:nvSpPr>
        <p:spPr>
          <a:xfrm>
            <a:off x="3182472" y="1759270"/>
            <a:ext cx="5477434" cy="1665247"/>
          </a:xfrm>
          <a:custGeom>
            <a:avLst/>
            <a:gdLst>
              <a:gd name="connsiteX0" fmla="*/ 0 w 5100917"/>
              <a:gd name="connsiteY0" fmla="*/ 708212 h 708212"/>
              <a:gd name="connsiteX1" fmla="*/ 2792506 w 5100917"/>
              <a:gd name="connsiteY1" fmla="*/ 425824 h 708212"/>
              <a:gd name="connsiteX2" fmla="*/ 5100917 w 5100917"/>
              <a:gd name="connsiteY2" fmla="*/ 0 h 708212"/>
            </a:gdLst>
            <a:ahLst/>
            <a:cxnLst>
              <a:cxn ang="0">
                <a:pos x="connsiteX0" y="connsiteY0"/>
              </a:cxn>
              <a:cxn ang="0">
                <a:pos x="connsiteX1" y="connsiteY1"/>
              </a:cxn>
              <a:cxn ang="0">
                <a:pos x="connsiteX2" y="connsiteY2"/>
              </a:cxn>
            </a:cxnLst>
            <a:rect l="l" t="t" r="r" b="b"/>
            <a:pathLst>
              <a:path w="5100917" h="708212">
                <a:moveTo>
                  <a:pt x="0" y="708212"/>
                </a:moveTo>
                <a:cubicBezTo>
                  <a:pt x="971176" y="626035"/>
                  <a:pt x="1942353" y="543859"/>
                  <a:pt x="2792506" y="425824"/>
                </a:cubicBezTo>
                <a:cubicBezTo>
                  <a:pt x="3642659" y="307789"/>
                  <a:pt x="4371788" y="153894"/>
                  <a:pt x="5100917" y="0"/>
                </a:cubicBezTo>
              </a:path>
            </a:pathLst>
          </a:custGeom>
          <a:noFill/>
          <a:ln w="28575">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TextBox 32"/>
          <p:cNvSpPr txBox="1"/>
          <p:nvPr/>
        </p:nvSpPr>
        <p:spPr>
          <a:xfrm>
            <a:off x="3673068" y="1838718"/>
            <a:ext cx="1196026" cy="1200329"/>
          </a:xfrm>
          <a:prstGeom prst="rect">
            <a:avLst/>
          </a:prstGeom>
          <a:noFill/>
        </p:spPr>
        <p:txBody>
          <a:bodyPr wrap="square" rtlCol="0">
            <a:spAutoFit/>
          </a:bodyPr>
          <a:lstStyle/>
          <a:p>
            <a:r>
              <a:rPr lang="en-AU" dirty="0" smtClean="0"/>
              <a:t>Previously expected 3% annual growth</a:t>
            </a:r>
            <a:endParaRPr lang="en-AU" dirty="0"/>
          </a:p>
        </p:txBody>
      </p:sp>
      <p:cxnSp>
        <p:nvCxnSpPr>
          <p:cNvPr id="35" name="Straight Connector 34"/>
          <p:cNvCxnSpPr/>
          <p:nvPr/>
        </p:nvCxnSpPr>
        <p:spPr>
          <a:xfrm>
            <a:off x="4007225" y="2965569"/>
            <a:ext cx="195658" cy="3244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5348193" y="3900142"/>
            <a:ext cx="2521058" cy="1200329"/>
          </a:xfrm>
          <a:prstGeom prst="rect">
            <a:avLst/>
          </a:prstGeom>
          <a:noFill/>
        </p:spPr>
        <p:txBody>
          <a:bodyPr wrap="square" rtlCol="0">
            <a:spAutoFit/>
          </a:bodyPr>
          <a:lstStyle/>
          <a:p>
            <a:r>
              <a:rPr lang="en-AU" dirty="0" smtClean="0"/>
              <a:t>Expected after Q1 and Q2 of 2020: 7% GDP drop 2020, catch up after.</a:t>
            </a:r>
            <a:endParaRPr lang="en-AU" dirty="0"/>
          </a:p>
        </p:txBody>
      </p:sp>
      <p:cxnSp>
        <p:nvCxnSpPr>
          <p:cNvPr id="37" name="Straight Connector 36"/>
          <p:cNvCxnSpPr/>
          <p:nvPr/>
        </p:nvCxnSpPr>
        <p:spPr>
          <a:xfrm>
            <a:off x="5282960" y="3626967"/>
            <a:ext cx="195658" cy="3244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a:off x="4003800" y="3351335"/>
            <a:ext cx="3425" cy="1941008"/>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540811" y="3631359"/>
            <a:ext cx="34717" cy="3603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3091514" y="3949933"/>
            <a:ext cx="968028" cy="646331"/>
          </a:xfrm>
          <a:prstGeom prst="rect">
            <a:avLst/>
          </a:prstGeom>
          <a:noFill/>
        </p:spPr>
        <p:txBody>
          <a:bodyPr wrap="square" rtlCol="0">
            <a:spAutoFit/>
          </a:bodyPr>
          <a:lstStyle/>
          <a:p>
            <a:r>
              <a:rPr lang="en-AU" dirty="0" smtClean="0"/>
              <a:t>8 trillion loss</a:t>
            </a:r>
            <a:endParaRPr lang="en-AU" dirty="0"/>
          </a:p>
        </p:txBody>
      </p:sp>
      <p:sp>
        <p:nvSpPr>
          <p:cNvPr id="59" name="TextBox 58"/>
          <p:cNvSpPr txBox="1"/>
          <p:nvPr/>
        </p:nvSpPr>
        <p:spPr>
          <a:xfrm>
            <a:off x="1913966" y="273424"/>
            <a:ext cx="8731622" cy="369332"/>
          </a:xfrm>
          <a:prstGeom prst="rect">
            <a:avLst/>
          </a:prstGeom>
          <a:noFill/>
        </p:spPr>
        <p:txBody>
          <a:bodyPr wrap="square" rtlCol="0">
            <a:spAutoFit/>
          </a:bodyPr>
          <a:lstStyle/>
          <a:p>
            <a:r>
              <a:rPr lang="en-AU" dirty="0" smtClean="0"/>
              <a:t>Previously projected GDP and later projected GDP: one-year loss versus cumulative loss</a:t>
            </a:r>
            <a:endParaRPr lang="en-AU" dirty="0"/>
          </a:p>
        </p:txBody>
      </p:sp>
      <p:sp>
        <p:nvSpPr>
          <p:cNvPr id="62" name="Freeform 61"/>
          <p:cNvSpPr/>
          <p:nvPr/>
        </p:nvSpPr>
        <p:spPr>
          <a:xfrm>
            <a:off x="5357683" y="1698855"/>
            <a:ext cx="3404963" cy="1833518"/>
          </a:xfrm>
          <a:custGeom>
            <a:avLst/>
            <a:gdLst>
              <a:gd name="connsiteX0" fmla="*/ 0 w 5100917"/>
              <a:gd name="connsiteY0" fmla="*/ 708212 h 708212"/>
              <a:gd name="connsiteX1" fmla="*/ 2792506 w 5100917"/>
              <a:gd name="connsiteY1" fmla="*/ 425824 h 708212"/>
              <a:gd name="connsiteX2" fmla="*/ 5100917 w 5100917"/>
              <a:gd name="connsiteY2" fmla="*/ 0 h 708212"/>
            </a:gdLst>
            <a:ahLst/>
            <a:cxnLst>
              <a:cxn ang="0">
                <a:pos x="connsiteX0" y="connsiteY0"/>
              </a:cxn>
              <a:cxn ang="0">
                <a:pos x="connsiteX1" y="connsiteY1"/>
              </a:cxn>
              <a:cxn ang="0">
                <a:pos x="connsiteX2" y="connsiteY2"/>
              </a:cxn>
            </a:cxnLst>
            <a:rect l="l" t="t" r="r" b="b"/>
            <a:pathLst>
              <a:path w="5100917" h="708212">
                <a:moveTo>
                  <a:pt x="0" y="708212"/>
                </a:moveTo>
                <a:cubicBezTo>
                  <a:pt x="971176" y="626035"/>
                  <a:pt x="1942353" y="543859"/>
                  <a:pt x="2792506" y="425824"/>
                </a:cubicBezTo>
                <a:cubicBezTo>
                  <a:pt x="3642659" y="307789"/>
                  <a:pt x="4371788" y="153894"/>
                  <a:pt x="5100917" y="0"/>
                </a:cubicBezTo>
              </a:path>
            </a:pathLst>
          </a:cu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63" name="Straight Connector 62"/>
          <p:cNvCxnSpPr/>
          <p:nvPr/>
        </p:nvCxnSpPr>
        <p:spPr>
          <a:xfrm>
            <a:off x="6379616" y="3302892"/>
            <a:ext cx="26674" cy="5107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8085539" y="2864419"/>
            <a:ext cx="1831907" cy="646331"/>
          </a:xfrm>
          <a:prstGeom prst="rect">
            <a:avLst/>
          </a:prstGeom>
          <a:noFill/>
        </p:spPr>
        <p:txBody>
          <a:bodyPr wrap="square" rtlCol="0">
            <a:spAutoFit/>
          </a:bodyPr>
          <a:lstStyle/>
          <a:p>
            <a:r>
              <a:rPr lang="en-AU" dirty="0" smtClean="0"/>
              <a:t>40 trillion loss more till catch up</a:t>
            </a:r>
            <a:endParaRPr lang="en-AU" dirty="0"/>
          </a:p>
        </p:txBody>
      </p:sp>
      <p:cxnSp>
        <p:nvCxnSpPr>
          <p:cNvPr id="66" name="Straight Connector 65"/>
          <p:cNvCxnSpPr/>
          <p:nvPr/>
        </p:nvCxnSpPr>
        <p:spPr>
          <a:xfrm>
            <a:off x="6100604" y="2990395"/>
            <a:ext cx="1962833" cy="1374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90079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Other </a:t>
            </a:r>
            <a:r>
              <a:rPr lang="en-AU" dirty="0" err="1" smtClean="0"/>
              <a:t>tradeoff</a:t>
            </a:r>
            <a:r>
              <a:rPr lang="en-AU" dirty="0" smtClean="0"/>
              <a:t> numbers</a:t>
            </a:r>
            <a:endParaRPr lang="en-AU" dirty="0"/>
          </a:p>
        </p:txBody>
      </p:sp>
      <p:sp>
        <p:nvSpPr>
          <p:cNvPr id="3" name="Content Placeholder 2"/>
          <p:cNvSpPr>
            <a:spLocks noGrp="1"/>
          </p:cNvSpPr>
          <p:nvPr>
            <p:ph idx="1"/>
          </p:nvPr>
        </p:nvSpPr>
        <p:spPr/>
        <p:txBody>
          <a:bodyPr/>
          <a:lstStyle/>
          <a:p>
            <a:r>
              <a:rPr lang="en-AU" dirty="0" smtClean="0"/>
              <a:t>There are many we can mention, including suicides, air pollution, disrupted schooling, and postponed hospital operations.</a:t>
            </a:r>
          </a:p>
          <a:p>
            <a:endParaRPr lang="en-AU" dirty="0"/>
          </a:p>
          <a:p>
            <a:r>
              <a:rPr lang="en-AU" dirty="0" smtClean="0"/>
              <a:t>Let me simply give just one example: IVF treatments, which were cancelled all over the world during lock downs.</a:t>
            </a:r>
            <a:endParaRPr lang="en-AU" dirty="0"/>
          </a:p>
        </p:txBody>
      </p:sp>
    </p:spTree>
    <p:extLst>
      <p:ext uri="{BB962C8B-B14F-4D97-AF65-F5344CB8AC3E}">
        <p14:creationId xmlns:p14="http://schemas.microsoft.com/office/powerpoint/2010/main" val="8952129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5404" y="-235670"/>
            <a:ext cx="10515600" cy="1325563"/>
          </a:xfrm>
        </p:spPr>
        <p:txBody>
          <a:bodyPr/>
          <a:lstStyle/>
          <a:p>
            <a:r>
              <a:rPr lang="en-AU" dirty="0" smtClean="0"/>
              <a:t>Effect of loss of IVF babies</a:t>
            </a:r>
            <a:endParaRPr lang="en-AU" dirty="0"/>
          </a:p>
        </p:txBody>
      </p:sp>
      <p:sp>
        <p:nvSpPr>
          <p:cNvPr id="3" name="Content Placeholder 2"/>
          <p:cNvSpPr>
            <a:spLocks noGrp="1"/>
          </p:cNvSpPr>
          <p:nvPr>
            <p:ph idx="1"/>
          </p:nvPr>
        </p:nvSpPr>
        <p:spPr>
          <a:xfrm>
            <a:off x="131975" y="1140642"/>
            <a:ext cx="11967328" cy="5590096"/>
          </a:xfrm>
        </p:spPr>
        <p:txBody>
          <a:bodyPr>
            <a:normAutofit fontScale="92500" lnSpcReduction="20000"/>
          </a:bodyPr>
          <a:lstStyle/>
          <a:p>
            <a:r>
              <a:rPr lang="en-AU" dirty="0" smtClean="0"/>
              <a:t>The lock downs and suspensions of health services cost an additional 2,000 IVF babies per month in the UK. They live on average 80 years. Their potential mothers and fathers also have a combined 80 years further to live, now without a child.</a:t>
            </a:r>
          </a:p>
          <a:p>
            <a:endParaRPr lang="en-AU" dirty="0"/>
          </a:p>
          <a:p>
            <a:r>
              <a:rPr lang="en-AU" dirty="0" smtClean="0"/>
              <a:t>Because they live 80 years and not 3-5, each baby is worth between 16 and 27 corona virus deaths. One should probably add around 10% to that via the loss to the parents.</a:t>
            </a:r>
          </a:p>
          <a:p>
            <a:endParaRPr lang="en-AU" dirty="0"/>
          </a:p>
          <a:p>
            <a:r>
              <a:rPr lang="en-AU" dirty="0" smtClean="0"/>
              <a:t>There is the question whether you want to count lost IVF babies at all, but since we regard the forced sterilisation of gypsies and others by the Nazis as genocide, we cannot pretend these “lock down forced infertilities” are a form a damage we can discount. Maybe these lost lives don’t count 100%, but not 0% either.</a:t>
            </a:r>
          </a:p>
          <a:p>
            <a:endParaRPr lang="en-AU" dirty="0"/>
          </a:p>
          <a:p>
            <a:r>
              <a:rPr lang="en-AU" dirty="0" smtClean="0"/>
              <a:t>Note that one could have lock downs without stopping IVF treatment, but this has not happened widely and is difficult (fear makes this hard: unless you address the fear, IVF operations remain viewed as a liability).</a:t>
            </a:r>
            <a:endParaRPr lang="en-AU" dirty="0"/>
          </a:p>
        </p:txBody>
      </p:sp>
    </p:spTree>
    <p:extLst>
      <p:ext uri="{BB962C8B-B14F-4D97-AF65-F5344CB8AC3E}">
        <p14:creationId xmlns:p14="http://schemas.microsoft.com/office/powerpoint/2010/main" val="2610610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Bringing it together: scenarios</a:t>
            </a:r>
            <a:endParaRPr lang="en-AU" dirty="0"/>
          </a:p>
        </p:txBody>
      </p:sp>
      <p:sp>
        <p:nvSpPr>
          <p:cNvPr id="3" name="Content Placeholder 2"/>
          <p:cNvSpPr>
            <a:spLocks noGrp="1"/>
          </p:cNvSpPr>
          <p:nvPr>
            <p:ph idx="1"/>
          </p:nvPr>
        </p:nvSpPr>
        <p:spPr/>
        <p:txBody>
          <a:bodyPr/>
          <a:lstStyle/>
          <a:p>
            <a:r>
              <a:rPr lang="en-AU" dirty="0" smtClean="0"/>
              <a:t>CBA analysis 1: All of humanity’s reactions to </a:t>
            </a:r>
            <a:r>
              <a:rPr lang="en-AU" dirty="0" err="1" smtClean="0"/>
              <a:t>covid</a:t>
            </a:r>
            <a:r>
              <a:rPr lang="en-AU" dirty="0"/>
              <a:t> </a:t>
            </a:r>
            <a:r>
              <a:rPr lang="en-AU" dirty="0" smtClean="0"/>
              <a:t>versus </a:t>
            </a:r>
            <a:r>
              <a:rPr lang="en-AU" dirty="0" smtClean="0"/>
              <a:t>“focussed protection” for the vulnerable on a voluntary basis.</a:t>
            </a:r>
            <a:endParaRPr lang="en-AU" dirty="0" smtClean="0"/>
          </a:p>
          <a:p>
            <a:endParaRPr lang="en-AU" dirty="0"/>
          </a:p>
          <a:p>
            <a:r>
              <a:rPr lang="en-AU" dirty="0" smtClean="0"/>
              <a:t>CBA analysis 2: An additional month of “half lock downs” in the UK versus “ </a:t>
            </a:r>
            <a:r>
              <a:rPr lang="en-AU" dirty="0" smtClean="0"/>
              <a:t>focussed protection: </a:t>
            </a:r>
            <a:r>
              <a:rPr lang="en-AU" dirty="0" smtClean="0"/>
              <a:t>regular economic and social life”</a:t>
            </a:r>
          </a:p>
          <a:p>
            <a:pPr lvl="1"/>
            <a:r>
              <a:rPr lang="en-AU" dirty="0" smtClean="0"/>
              <a:t>Note that if you believe there is a transition path between lock downs and regular life, then that does not alter the basic calculation: a month sooner one eases the lock down, a month sooner one starts the transition, so a month sooner one is back to normal.</a:t>
            </a:r>
            <a:endParaRPr lang="en-AU" dirty="0"/>
          </a:p>
        </p:txBody>
      </p:sp>
    </p:spTree>
    <p:extLst>
      <p:ext uri="{BB962C8B-B14F-4D97-AF65-F5344CB8AC3E}">
        <p14:creationId xmlns:p14="http://schemas.microsoft.com/office/powerpoint/2010/main" val="3822803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995" y="102855"/>
            <a:ext cx="10515600" cy="1325563"/>
          </a:xfrm>
        </p:spPr>
        <p:txBody>
          <a:bodyPr/>
          <a:lstStyle/>
          <a:p>
            <a:r>
              <a:rPr lang="en-AU" dirty="0" smtClean="0"/>
              <a:t>CBA1: All of </a:t>
            </a:r>
            <a:r>
              <a:rPr lang="en-AU" dirty="0" err="1" smtClean="0"/>
              <a:t>humanitys</a:t>
            </a:r>
            <a:r>
              <a:rPr lang="en-AU" dirty="0" smtClean="0"/>
              <a:t>’ reaction</a:t>
            </a:r>
            <a:endParaRPr lang="en-AU" dirty="0"/>
          </a:p>
        </p:txBody>
      </p:sp>
      <p:sp>
        <p:nvSpPr>
          <p:cNvPr id="3" name="Content Placeholder 2"/>
          <p:cNvSpPr>
            <a:spLocks noGrp="1"/>
          </p:cNvSpPr>
          <p:nvPr>
            <p:ph idx="1"/>
          </p:nvPr>
        </p:nvSpPr>
        <p:spPr>
          <a:xfrm>
            <a:off x="363882" y="1203146"/>
            <a:ext cx="11053713" cy="5502454"/>
          </a:xfrm>
        </p:spPr>
        <p:txBody>
          <a:bodyPr>
            <a:normAutofit/>
          </a:bodyPr>
          <a:lstStyle/>
          <a:p>
            <a:r>
              <a:rPr lang="en-AU" dirty="0" smtClean="0"/>
              <a:t>Potential benefits: lock downs saved between 0% and 1% of the world population, where the victims would live 3 to 5 regular years. </a:t>
            </a:r>
            <a:r>
              <a:rPr lang="en-AU" b="1" dirty="0" smtClean="0"/>
              <a:t>Say 0.2%</a:t>
            </a:r>
          </a:p>
          <a:p>
            <a:pPr lvl="1"/>
            <a:r>
              <a:rPr lang="en-AU" dirty="0" smtClean="0"/>
              <a:t>Huge differences by country. Australia probably had a “rho&lt;1” anyway so never faced a serious threat. New York might have saved 0.2% of its population if they had </a:t>
            </a:r>
            <a:r>
              <a:rPr lang="en-AU" b="1" dirty="0" smtClean="0"/>
              <a:t>dispersed</a:t>
            </a:r>
            <a:r>
              <a:rPr lang="en-AU" dirty="0" smtClean="0"/>
              <a:t> that population immediately at the outset of the pandemic.</a:t>
            </a:r>
          </a:p>
          <a:p>
            <a:pPr lvl="1"/>
            <a:r>
              <a:rPr lang="en-AU" dirty="0" smtClean="0"/>
              <a:t>Sweden is </a:t>
            </a:r>
            <a:r>
              <a:rPr lang="en-AU" dirty="0" smtClean="0"/>
              <a:t>showing some degree of </a:t>
            </a:r>
            <a:r>
              <a:rPr lang="en-AU" dirty="0" smtClean="0"/>
              <a:t>herd immunity can be achieved with total mortality rates of around </a:t>
            </a:r>
            <a:r>
              <a:rPr lang="en-AU" dirty="0" smtClean="0"/>
              <a:t>0.07%. </a:t>
            </a:r>
            <a:r>
              <a:rPr lang="en-AU" dirty="0" smtClean="0"/>
              <a:t>Some other European countries might have even less high costs for the same </a:t>
            </a:r>
            <a:r>
              <a:rPr lang="en-AU" dirty="0" smtClean="0"/>
              <a:t>degree of herd </a:t>
            </a:r>
            <a:r>
              <a:rPr lang="en-AU" dirty="0" smtClean="0"/>
              <a:t>immunity.</a:t>
            </a:r>
          </a:p>
          <a:p>
            <a:pPr lvl="1"/>
            <a:r>
              <a:rPr lang="en-AU" dirty="0" smtClean="0"/>
              <a:t>0.2% world mortality is </a:t>
            </a:r>
            <a:r>
              <a:rPr lang="en-AU" b="1" dirty="0" smtClean="0"/>
              <a:t>15 million </a:t>
            </a:r>
            <a:r>
              <a:rPr lang="en-AU" b="1" dirty="0" err="1" smtClean="0"/>
              <a:t>covid</a:t>
            </a:r>
            <a:r>
              <a:rPr lang="en-AU" b="1" dirty="0" smtClean="0"/>
              <a:t> deaths </a:t>
            </a:r>
            <a:r>
              <a:rPr lang="en-AU" dirty="0" smtClean="0"/>
              <a:t>is around 75 million years of regular life (valuing them at 5 regular years of life each). </a:t>
            </a:r>
          </a:p>
          <a:p>
            <a:pPr lvl="1"/>
            <a:r>
              <a:rPr lang="en-AU" dirty="0" smtClean="0"/>
              <a:t>So lets count 75 million years of regular life saved, </a:t>
            </a:r>
            <a:r>
              <a:rPr lang="en-AU" dirty="0" err="1" smtClean="0"/>
              <a:t>ie</a:t>
            </a:r>
            <a:r>
              <a:rPr lang="en-AU" dirty="0" smtClean="0"/>
              <a:t> </a:t>
            </a:r>
            <a:r>
              <a:rPr lang="en-AU" b="1" dirty="0" smtClean="0"/>
              <a:t>450 million WELLBY</a:t>
            </a:r>
            <a:r>
              <a:rPr lang="en-AU" dirty="0" smtClean="0"/>
              <a:t> as the “maximum benefits” of humanity’s reaction. </a:t>
            </a:r>
          </a:p>
          <a:p>
            <a:pPr lvl="1"/>
            <a:r>
              <a:rPr lang="en-AU" dirty="0" smtClean="0"/>
              <a:t>Note this is </a:t>
            </a:r>
            <a:r>
              <a:rPr lang="en-AU" b="1" dirty="0" smtClean="0"/>
              <a:t>10 </a:t>
            </a:r>
            <a:r>
              <a:rPr lang="en-AU" b="1" dirty="0" smtClean="0"/>
              <a:t>times the current world mortality, so very generous to the benefits of lock downs</a:t>
            </a:r>
            <a:r>
              <a:rPr lang="en-AU" dirty="0" smtClean="0"/>
              <a:t>. </a:t>
            </a:r>
          </a:p>
          <a:p>
            <a:endParaRPr lang="en-AU" dirty="0"/>
          </a:p>
        </p:txBody>
      </p:sp>
    </p:spTree>
    <p:extLst>
      <p:ext uri="{BB962C8B-B14F-4D97-AF65-F5344CB8AC3E}">
        <p14:creationId xmlns:p14="http://schemas.microsoft.com/office/powerpoint/2010/main" val="41321582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Costs of all the reactions</a:t>
            </a:r>
            <a:endParaRPr lang="en-AU" dirty="0"/>
          </a:p>
        </p:txBody>
      </p:sp>
      <p:sp>
        <p:nvSpPr>
          <p:cNvPr id="3" name="Content Placeholder 2"/>
          <p:cNvSpPr>
            <a:spLocks noGrp="1"/>
          </p:cNvSpPr>
          <p:nvPr>
            <p:ph idx="1"/>
          </p:nvPr>
        </p:nvSpPr>
        <p:spPr>
          <a:xfrm>
            <a:off x="583019" y="1690688"/>
            <a:ext cx="10515600" cy="5032375"/>
          </a:xfrm>
        </p:spPr>
        <p:txBody>
          <a:bodyPr>
            <a:normAutofit fontScale="77500" lnSpcReduction="20000"/>
          </a:bodyPr>
          <a:lstStyle/>
          <a:p>
            <a:r>
              <a:rPr lang="en-AU" dirty="0" smtClean="0"/>
              <a:t>Costs from economic collapse via government expenditure: 1.2 billion WELLBY at least, probably around </a:t>
            </a:r>
            <a:r>
              <a:rPr lang="en-AU" b="1" dirty="0" smtClean="0"/>
              <a:t>5 billion WELLBY</a:t>
            </a:r>
            <a:r>
              <a:rPr lang="en-AU" dirty="0" smtClean="0"/>
              <a:t>. </a:t>
            </a:r>
          </a:p>
          <a:p>
            <a:r>
              <a:rPr lang="en-AU" dirty="0" smtClean="0"/>
              <a:t>Cost via the mental anguish of unemployment: minimum 120 million WELLBY lost, probably more like </a:t>
            </a:r>
            <a:r>
              <a:rPr lang="en-AU" b="1" dirty="0" smtClean="0"/>
              <a:t>1.5 billion WELLBY </a:t>
            </a:r>
            <a:r>
              <a:rPr lang="en-AU" dirty="0" smtClean="0"/>
              <a:t>lost.</a:t>
            </a:r>
          </a:p>
          <a:p>
            <a:r>
              <a:rPr lang="en-AU" dirty="0" smtClean="0"/>
              <a:t>Cost via loneliness/stress if lock downs on average applied for 2 months to 4 billion people: </a:t>
            </a:r>
            <a:r>
              <a:rPr lang="en-AU" b="1" dirty="0" smtClean="0"/>
              <a:t>333 million WELLBY</a:t>
            </a:r>
            <a:r>
              <a:rPr lang="en-AU" dirty="0" smtClean="0"/>
              <a:t>. </a:t>
            </a:r>
          </a:p>
          <a:p>
            <a:endParaRPr lang="en-AU" dirty="0" smtClean="0"/>
          </a:p>
          <a:p>
            <a:r>
              <a:rPr lang="en-AU" dirty="0" smtClean="0"/>
              <a:t>In total, a minimum loss of 1.5 billion WELLBY, probably closer to </a:t>
            </a:r>
            <a:r>
              <a:rPr lang="en-AU" b="1" dirty="0" smtClean="0"/>
              <a:t>7 billion WELLBY</a:t>
            </a:r>
            <a:r>
              <a:rPr lang="en-AU" dirty="0" smtClean="0"/>
              <a:t>, equivalent to 1.16 billion regular years, or 250 to 400 million corona virus deaths.</a:t>
            </a:r>
          </a:p>
          <a:p>
            <a:r>
              <a:rPr lang="en-AU" dirty="0" smtClean="0"/>
              <a:t>If we compare the maximum benefits with the minimum costs, the costs outweigh the benefits by a </a:t>
            </a:r>
            <a:r>
              <a:rPr lang="en-AU" b="1" dirty="0" smtClean="0"/>
              <a:t>minimum of a factor of 3.</a:t>
            </a:r>
          </a:p>
          <a:p>
            <a:r>
              <a:rPr lang="en-AU" dirty="0" smtClean="0"/>
              <a:t>If we take my best-guess numbers (benefits = 0.02% so 45 million WELLBY; Costs 7 billion WELLBY), </a:t>
            </a:r>
            <a:r>
              <a:rPr lang="en-AU" b="1" dirty="0" smtClean="0"/>
              <a:t>the cost-benefit ratio is over 150</a:t>
            </a:r>
            <a:r>
              <a:rPr lang="en-AU" dirty="0" smtClean="0"/>
              <a:t>.</a:t>
            </a:r>
          </a:p>
          <a:p>
            <a:endParaRPr lang="en-AU" dirty="0"/>
          </a:p>
          <a:p>
            <a:r>
              <a:rPr lang="en-AU" dirty="0" smtClean="0"/>
              <a:t>On top of this come IVF baby costs, health costs due to reduced services, disruption of education, etc.</a:t>
            </a:r>
            <a:endParaRPr lang="en-AU" dirty="0"/>
          </a:p>
        </p:txBody>
      </p:sp>
    </p:spTree>
    <p:extLst>
      <p:ext uri="{BB962C8B-B14F-4D97-AF65-F5344CB8AC3E}">
        <p14:creationId xmlns:p14="http://schemas.microsoft.com/office/powerpoint/2010/main" val="3024969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7627" y="181303"/>
            <a:ext cx="11218682" cy="832079"/>
          </a:xfrm>
        </p:spPr>
        <p:txBody>
          <a:bodyPr/>
          <a:lstStyle/>
          <a:p>
            <a:r>
              <a:rPr lang="en-AU" dirty="0" smtClean="0"/>
              <a:t>CBA2: policies in the UK?</a:t>
            </a:r>
            <a:endParaRPr lang="en-AU" dirty="0"/>
          </a:p>
        </p:txBody>
      </p:sp>
      <p:sp>
        <p:nvSpPr>
          <p:cNvPr id="3" name="Content Placeholder 2"/>
          <p:cNvSpPr>
            <a:spLocks noGrp="1"/>
          </p:cNvSpPr>
          <p:nvPr>
            <p:ph idx="1"/>
          </p:nvPr>
        </p:nvSpPr>
        <p:spPr>
          <a:xfrm>
            <a:off x="131975" y="1107649"/>
            <a:ext cx="11934334" cy="5613662"/>
          </a:xfrm>
        </p:spPr>
        <p:txBody>
          <a:bodyPr>
            <a:normAutofit/>
          </a:bodyPr>
          <a:lstStyle/>
          <a:p>
            <a:r>
              <a:rPr lang="en-AU" dirty="0" smtClean="0"/>
              <a:t>Let us calculate something quite simple:</a:t>
            </a:r>
          </a:p>
          <a:p>
            <a:pPr lvl="1"/>
            <a:r>
              <a:rPr lang="en-AU" dirty="0" smtClean="0"/>
              <a:t>Costs per month of “no recovery and minimal lock downs”, </a:t>
            </a:r>
            <a:r>
              <a:rPr lang="en-AU" b="1" dirty="0" smtClean="0"/>
              <a:t>meaning no reduction in unemployment, recovery of GDP, end of only half the social isolation</a:t>
            </a:r>
            <a:r>
              <a:rPr lang="en-AU" dirty="0" smtClean="0"/>
              <a:t>. </a:t>
            </a:r>
          </a:p>
          <a:p>
            <a:pPr lvl="1"/>
            <a:r>
              <a:rPr lang="en-AU" dirty="0" smtClean="0"/>
              <a:t>One can see this as the “costs” of ongoing but not complete lock downs. One can compare that with what one believes the “benefits” would be. </a:t>
            </a:r>
          </a:p>
        </p:txBody>
      </p:sp>
    </p:spTree>
    <p:extLst>
      <p:ext uri="{BB962C8B-B14F-4D97-AF65-F5344CB8AC3E}">
        <p14:creationId xmlns:p14="http://schemas.microsoft.com/office/powerpoint/2010/main" val="39330385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65" y="88678"/>
            <a:ext cx="11998842" cy="1470764"/>
          </a:xfrm>
        </p:spPr>
        <p:txBody>
          <a:bodyPr>
            <a:normAutofit fontScale="90000"/>
          </a:bodyPr>
          <a:lstStyle/>
          <a:p>
            <a:r>
              <a:rPr lang="en-AU" dirty="0" smtClean="0"/>
              <a:t> Costs per month of delayed </a:t>
            </a:r>
            <a:r>
              <a:rPr lang="en-AU" dirty="0" smtClean="0"/>
              <a:t>recovery with relatively light restrictions</a:t>
            </a:r>
            <a:r>
              <a:rPr lang="en-AU" dirty="0"/>
              <a:t/>
            </a:r>
            <a:br>
              <a:rPr lang="en-AU" dirty="0"/>
            </a:br>
            <a:endParaRPr lang="en-AU" dirty="0"/>
          </a:p>
        </p:txBody>
      </p:sp>
      <p:sp>
        <p:nvSpPr>
          <p:cNvPr id="3" name="Content Placeholder 2"/>
          <p:cNvSpPr>
            <a:spLocks noGrp="1"/>
          </p:cNvSpPr>
          <p:nvPr>
            <p:ph idx="1"/>
          </p:nvPr>
        </p:nvSpPr>
        <p:spPr>
          <a:xfrm>
            <a:off x="0" y="1307150"/>
            <a:ext cx="12047455" cy="5433015"/>
          </a:xfrm>
        </p:spPr>
        <p:txBody>
          <a:bodyPr>
            <a:normAutofit/>
          </a:bodyPr>
          <a:lstStyle/>
          <a:p>
            <a:endParaRPr lang="en-AU" dirty="0"/>
          </a:p>
          <a:p>
            <a:r>
              <a:rPr lang="en-AU" dirty="0" smtClean="0"/>
              <a:t>Costs 1: loneliness/stress of </a:t>
            </a:r>
            <a:r>
              <a:rPr lang="en-AU" dirty="0"/>
              <a:t>3</a:t>
            </a:r>
            <a:r>
              <a:rPr lang="en-AU" dirty="0" smtClean="0"/>
              <a:t>0 million British = </a:t>
            </a:r>
            <a:r>
              <a:rPr lang="en-AU" dirty="0" smtClean="0"/>
              <a:t>0.5*30/12 </a:t>
            </a:r>
            <a:r>
              <a:rPr lang="en-AU" dirty="0" smtClean="0"/>
              <a:t>= 1,250,000 WELLBY</a:t>
            </a:r>
          </a:p>
          <a:p>
            <a:r>
              <a:rPr lang="en-AU" dirty="0" smtClean="0"/>
              <a:t>Cost 2: continued unemployment of three million workers = 3*0.7/12 = 175,000 WELLBY</a:t>
            </a:r>
          </a:p>
          <a:p>
            <a:r>
              <a:rPr lang="en-AU" dirty="0" smtClean="0"/>
              <a:t>Cost 3: 2000 IVF babies prevented = 2,000*80*6= 960,000 WELLBY. </a:t>
            </a:r>
          </a:p>
          <a:p>
            <a:r>
              <a:rPr lang="en-AU" dirty="0" smtClean="0"/>
              <a:t>Cost 4: reduced government expenses proportional to GDP loss = 14.7 billion per month = 1.6 million WELLBY per month at the minimum. </a:t>
            </a:r>
          </a:p>
          <a:p>
            <a:endParaRPr lang="en-AU" dirty="0" smtClean="0"/>
          </a:p>
          <a:p>
            <a:r>
              <a:rPr lang="en-AU" dirty="0" smtClean="0"/>
              <a:t>So </a:t>
            </a:r>
            <a:r>
              <a:rPr lang="en-AU" b="1" dirty="0" smtClean="0"/>
              <a:t>costs of postponing recovery and continuing 50% social isolation is at least 4 million WELLBY per month, equivalent to 133,333 covid-19 lives lost per month</a:t>
            </a:r>
            <a:r>
              <a:rPr lang="en-AU" dirty="0" smtClean="0"/>
              <a:t>.</a:t>
            </a:r>
          </a:p>
        </p:txBody>
      </p:sp>
    </p:spTree>
    <p:extLst>
      <p:ext uri="{BB962C8B-B14F-4D97-AF65-F5344CB8AC3E}">
        <p14:creationId xmlns:p14="http://schemas.microsoft.com/office/powerpoint/2010/main" val="30284267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Benefits of continued lock downs.</a:t>
            </a:r>
            <a:endParaRPr lang="en-AU" dirty="0"/>
          </a:p>
        </p:txBody>
      </p:sp>
      <p:sp>
        <p:nvSpPr>
          <p:cNvPr id="3" name="Content Placeholder 2"/>
          <p:cNvSpPr>
            <a:spLocks noGrp="1"/>
          </p:cNvSpPr>
          <p:nvPr>
            <p:ph idx="1"/>
          </p:nvPr>
        </p:nvSpPr>
        <p:spPr/>
        <p:txBody>
          <a:bodyPr>
            <a:normAutofit lnSpcReduction="10000"/>
          </a:bodyPr>
          <a:lstStyle/>
          <a:p>
            <a:r>
              <a:rPr lang="en-AU" dirty="0" smtClean="0"/>
              <a:t>Hard to know how many lives would be saved. As a low number, maybe 100. As a high number, maybe 10,000 (based on the experience of other European countries).</a:t>
            </a:r>
          </a:p>
          <a:p>
            <a:endParaRPr lang="en-AU" dirty="0"/>
          </a:p>
          <a:p>
            <a:r>
              <a:rPr lang="en-AU" dirty="0" smtClean="0"/>
              <a:t>Benefits 100 </a:t>
            </a:r>
            <a:r>
              <a:rPr lang="en-AU" dirty="0"/>
              <a:t>prevented </a:t>
            </a:r>
            <a:r>
              <a:rPr lang="en-AU" dirty="0" err="1"/>
              <a:t>covid</a:t>
            </a:r>
            <a:r>
              <a:rPr lang="en-AU" dirty="0"/>
              <a:t> deaths </a:t>
            </a:r>
            <a:r>
              <a:rPr lang="en-AU" dirty="0" smtClean="0"/>
              <a:t>per month = </a:t>
            </a:r>
            <a:r>
              <a:rPr lang="en-AU" dirty="0"/>
              <a:t>100*30 WELLBY = 3000 WELLBY (thus assuming 5 good years per prevented death). </a:t>
            </a:r>
            <a:endParaRPr lang="en-AU" dirty="0" smtClean="0"/>
          </a:p>
          <a:p>
            <a:endParaRPr lang="en-AU" dirty="0" smtClean="0"/>
          </a:p>
          <a:p>
            <a:r>
              <a:rPr lang="en-AU" dirty="0" smtClean="0"/>
              <a:t>Benefits 10,000 </a:t>
            </a:r>
            <a:r>
              <a:rPr lang="en-AU" dirty="0"/>
              <a:t>prevented deaths </a:t>
            </a:r>
            <a:r>
              <a:rPr lang="en-AU" dirty="0" smtClean="0"/>
              <a:t>per month = 300,000 </a:t>
            </a:r>
            <a:r>
              <a:rPr lang="en-AU" dirty="0"/>
              <a:t>WELLBY</a:t>
            </a:r>
            <a:r>
              <a:rPr lang="en-AU" dirty="0" smtClean="0"/>
              <a:t>.</a:t>
            </a:r>
          </a:p>
          <a:p>
            <a:endParaRPr lang="en-AU" dirty="0"/>
          </a:p>
          <a:p>
            <a:r>
              <a:rPr lang="en-AU" dirty="0" smtClean="0"/>
              <a:t>So costs versus benefits ranges from 13.3 to 1,333.</a:t>
            </a:r>
            <a:endParaRPr lang="en-AU" dirty="0"/>
          </a:p>
          <a:p>
            <a:endParaRPr lang="en-AU" dirty="0"/>
          </a:p>
        </p:txBody>
      </p:sp>
    </p:spTree>
    <p:extLst>
      <p:ext uri="{BB962C8B-B14F-4D97-AF65-F5344CB8AC3E}">
        <p14:creationId xmlns:p14="http://schemas.microsoft.com/office/powerpoint/2010/main" val="1150260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5233" y="0"/>
            <a:ext cx="10515600" cy="1325563"/>
          </a:xfrm>
        </p:spPr>
        <p:txBody>
          <a:bodyPr/>
          <a:lstStyle/>
          <a:p>
            <a:r>
              <a:rPr lang="en-AU" dirty="0" smtClean="0"/>
              <a:t>Important to note</a:t>
            </a:r>
            <a:endParaRPr lang="en-AU" dirty="0"/>
          </a:p>
        </p:txBody>
      </p:sp>
      <p:sp>
        <p:nvSpPr>
          <p:cNvPr id="3" name="Content Placeholder 2"/>
          <p:cNvSpPr>
            <a:spLocks noGrp="1"/>
          </p:cNvSpPr>
          <p:nvPr>
            <p:ph idx="1"/>
          </p:nvPr>
        </p:nvSpPr>
        <p:spPr>
          <a:xfrm>
            <a:off x="212651" y="1424763"/>
            <a:ext cx="11141149" cy="4752200"/>
          </a:xfrm>
        </p:spPr>
        <p:txBody>
          <a:bodyPr>
            <a:normAutofit fontScale="92500" lnSpcReduction="20000"/>
          </a:bodyPr>
          <a:lstStyle/>
          <a:p>
            <a:r>
              <a:rPr lang="en-AU" dirty="0" smtClean="0"/>
              <a:t>The marginal </a:t>
            </a:r>
            <a:r>
              <a:rPr lang="en-AU" b="1" dirty="0" smtClean="0"/>
              <a:t>costs</a:t>
            </a:r>
            <a:r>
              <a:rPr lang="en-AU" dirty="0" smtClean="0"/>
              <a:t> of unemployment, loneliness, and loss of GDP are </a:t>
            </a:r>
            <a:r>
              <a:rPr lang="en-AU" b="1" dirty="0" smtClean="0"/>
              <a:t>so enormous</a:t>
            </a:r>
            <a:r>
              <a:rPr lang="en-AU" dirty="0" smtClean="0"/>
              <a:t> compared to any reasonable assessment of the covid-19 threat, that </a:t>
            </a:r>
            <a:r>
              <a:rPr lang="en-AU" b="1" dirty="0" smtClean="0"/>
              <a:t>it hardly matters what policy scenario or model assumptions one puts in</a:t>
            </a:r>
            <a:r>
              <a:rPr lang="en-AU" dirty="0" smtClean="0"/>
              <a:t>.</a:t>
            </a:r>
          </a:p>
          <a:p>
            <a:endParaRPr lang="en-AU" dirty="0"/>
          </a:p>
          <a:p>
            <a:r>
              <a:rPr lang="en-AU" dirty="0" smtClean="0"/>
              <a:t>Various authors have now noted a high cost-benefit ratio of 30 to 1 or 50 to 1 for the UK.</a:t>
            </a:r>
          </a:p>
          <a:p>
            <a:r>
              <a:rPr lang="en-AU" dirty="0" err="1" smtClean="0"/>
              <a:t>Frijters</a:t>
            </a:r>
            <a:r>
              <a:rPr lang="en-AU" dirty="0" smtClean="0"/>
              <a:t> (March 21</a:t>
            </a:r>
            <a:r>
              <a:rPr lang="en-AU" baseline="30000" dirty="0" smtClean="0"/>
              <a:t>th</a:t>
            </a:r>
            <a:r>
              <a:rPr lang="en-AU" dirty="0"/>
              <a:t>) https://clubtroppo.com.au/2020/03/21/the-corona-dilemma/</a:t>
            </a:r>
            <a:endParaRPr lang="en-AU" dirty="0" smtClean="0"/>
          </a:p>
          <a:p>
            <a:r>
              <a:rPr lang="en-AU" dirty="0" smtClean="0"/>
              <a:t>Layard et al. </a:t>
            </a:r>
            <a:r>
              <a:rPr lang="en-AU" dirty="0"/>
              <a:t>(April 25th) http://cep.lse.ac.uk/pubs/download/occasional/op049.pdf</a:t>
            </a:r>
            <a:endParaRPr lang="en-AU" dirty="0" smtClean="0"/>
          </a:p>
          <a:p>
            <a:r>
              <a:rPr lang="en-AU" dirty="0" smtClean="0"/>
              <a:t>Miles et al (June, </a:t>
            </a:r>
            <a:r>
              <a:rPr lang="en-AU" dirty="0"/>
              <a:t>Imperial College) https://journal.sketchingscience.org/users/333926/articles/460021-living-with-covid-19-balancing-costs-against-benefits-in-the-face-of-the-virus</a:t>
            </a:r>
          </a:p>
        </p:txBody>
      </p:sp>
    </p:spTree>
    <p:extLst>
      <p:ext uri="{BB962C8B-B14F-4D97-AF65-F5344CB8AC3E}">
        <p14:creationId xmlns:p14="http://schemas.microsoft.com/office/powerpoint/2010/main" val="16641085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679" y="-125069"/>
            <a:ext cx="3681952" cy="1325563"/>
          </a:xfrm>
        </p:spPr>
        <p:txBody>
          <a:bodyPr/>
          <a:lstStyle/>
          <a:p>
            <a:r>
              <a:rPr lang="en-AU" dirty="0" smtClean="0"/>
              <a:t>Conclusion</a:t>
            </a:r>
            <a:endParaRPr lang="en-AU" dirty="0"/>
          </a:p>
        </p:txBody>
      </p:sp>
      <p:sp>
        <p:nvSpPr>
          <p:cNvPr id="3" name="Content Placeholder 2"/>
          <p:cNvSpPr>
            <a:spLocks noGrp="1"/>
          </p:cNvSpPr>
          <p:nvPr>
            <p:ph idx="1"/>
          </p:nvPr>
        </p:nvSpPr>
        <p:spPr>
          <a:xfrm>
            <a:off x="0" y="1250589"/>
            <a:ext cx="12099303" cy="5504629"/>
          </a:xfrm>
        </p:spPr>
        <p:txBody>
          <a:bodyPr>
            <a:normAutofit fontScale="92500" lnSpcReduction="10000"/>
          </a:bodyPr>
          <a:lstStyle/>
          <a:p>
            <a:r>
              <a:rPr lang="en-AU" dirty="0" smtClean="0"/>
              <a:t>The WELLBY cost-benefit approach allows one to add up apples and pears: loneliness and death, government expenditure and IVF babies.</a:t>
            </a:r>
          </a:p>
          <a:p>
            <a:endParaRPr lang="en-AU" dirty="0"/>
          </a:p>
          <a:p>
            <a:r>
              <a:rPr lang="en-AU" dirty="0" smtClean="0"/>
              <a:t>There is a huge literature to draw on as to the “rough effects” of circumstances on wellbeing. So it’s a powerful </a:t>
            </a:r>
            <a:r>
              <a:rPr lang="en-AU" b="1" dirty="0" smtClean="0"/>
              <a:t>tool</a:t>
            </a:r>
            <a:r>
              <a:rPr lang="en-AU" dirty="0" smtClean="0"/>
              <a:t> for getting </a:t>
            </a:r>
            <a:r>
              <a:rPr lang="en-AU" b="1" dirty="0" smtClean="0"/>
              <a:t>a reasonable ball-park figure </a:t>
            </a:r>
            <a:r>
              <a:rPr lang="en-AU" dirty="0" smtClean="0"/>
              <a:t>when there are many conflicting effects.</a:t>
            </a:r>
          </a:p>
          <a:p>
            <a:pPr marL="0" indent="0">
              <a:buNone/>
            </a:pPr>
            <a:endParaRPr lang="en-AU" dirty="0"/>
          </a:p>
          <a:p>
            <a:r>
              <a:rPr lang="en-AU" dirty="0" smtClean="0"/>
              <a:t>Implied costs of humanity’s reactions to </a:t>
            </a:r>
            <a:r>
              <a:rPr lang="en-AU" dirty="0" err="1" smtClean="0"/>
              <a:t>covid</a:t>
            </a:r>
            <a:r>
              <a:rPr lang="en-AU" dirty="0" smtClean="0"/>
              <a:t> outweigh the benefits in any metric (healthy lives lived, happy lives lived), no matter how skewed the assumptions put in. In all the more reasonable scenarios, costs outweigh the benefits by </a:t>
            </a:r>
            <a:r>
              <a:rPr lang="en-AU" b="1" dirty="0" smtClean="0"/>
              <a:t>at least a factor of 50</a:t>
            </a:r>
            <a:r>
              <a:rPr lang="en-AU" dirty="0" smtClean="0"/>
              <a:t>. </a:t>
            </a:r>
          </a:p>
          <a:p>
            <a:endParaRPr lang="en-AU" dirty="0"/>
          </a:p>
          <a:p>
            <a:r>
              <a:rPr lang="en-AU" dirty="0" smtClean="0"/>
              <a:t>By any metric (lives/heath/WELLBY), delaying recovery in the UK with continued lock downs has </a:t>
            </a:r>
            <a:r>
              <a:rPr lang="en-AU" b="1" dirty="0" smtClean="0"/>
              <a:t>far higher costs than benefits</a:t>
            </a:r>
            <a:r>
              <a:rPr lang="en-AU" dirty="0" smtClean="0"/>
              <a:t>. </a:t>
            </a:r>
            <a:endParaRPr lang="en-AU" dirty="0"/>
          </a:p>
        </p:txBody>
      </p:sp>
    </p:spTree>
    <p:extLst>
      <p:ext uri="{BB962C8B-B14F-4D97-AF65-F5344CB8AC3E}">
        <p14:creationId xmlns:p14="http://schemas.microsoft.com/office/powerpoint/2010/main" val="10956256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7098" y="0"/>
            <a:ext cx="7880498" cy="839640"/>
          </a:xfrm>
        </p:spPr>
        <p:txBody>
          <a:bodyPr/>
          <a:lstStyle/>
          <a:p>
            <a:r>
              <a:rPr lang="en-AU" dirty="0" smtClean="0"/>
              <a:t>Reflections</a:t>
            </a:r>
            <a:endParaRPr lang="en-AU" dirty="0"/>
          </a:p>
        </p:txBody>
      </p:sp>
      <p:sp>
        <p:nvSpPr>
          <p:cNvPr id="3" name="Content Placeholder 2"/>
          <p:cNvSpPr>
            <a:spLocks noGrp="1"/>
          </p:cNvSpPr>
          <p:nvPr>
            <p:ph idx="1"/>
          </p:nvPr>
        </p:nvSpPr>
        <p:spPr>
          <a:xfrm>
            <a:off x="0" y="967931"/>
            <a:ext cx="12105169" cy="5631343"/>
          </a:xfrm>
        </p:spPr>
        <p:txBody>
          <a:bodyPr>
            <a:normAutofit fontScale="92500" lnSpcReduction="20000"/>
          </a:bodyPr>
          <a:lstStyle/>
          <a:p>
            <a:r>
              <a:rPr lang="en-AU" dirty="0" smtClean="0"/>
              <a:t>It was already clear in March 2020 that the likely costs of trying to prevent the virus spreading throughout the population was going to be a huge multiple of the most optimistic scenario of the benefits. </a:t>
            </a:r>
          </a:p>
          <a:p>
            <a:endParaRPr lang="en-AU" dirty="0" smtClean="0"/>
          </a:p>
          <a:p>
            <a:r>
              <a:rPr lang="en-AU" dirty="0" smtClean="0"/>
              <a:t>Avoiding the spread already seemed futile in March 2020: this thing is in the world human population and cant be kept away indefinitely. Vaccines are very seldom 100% effective and usually take many years to appear. So herd immunity was and is the logical end-game. Besides which, coronaviruses tend to mutate fast (which is why there is no vaccine for the cold).</a:t>
            </a:r>
          </a:p>
          <a:p>
            <a:endParaRPr lang="en-AU" dirty="0"/>
          </a:p>
          <a:p>
            <a:r>
              <a:rPr lang="en-AU" dirty="0" smtClean="0"/>
              <a:t>In March 2020 one could still maintain there was some huge risk of hundreds of millions dying so suppression had to be tried. Now that can no longer be reasonably said. </a:t>
            </a:r>
          </a:p>
          <a:p>
            <a:endParaRPr lang="en-AU" dirty="0"/>
          </a:p>
          <a:p>
            <a:r>
              <a:rPr lang="en-AU" dirty="0" smtClean="0"/>
              <a:t>And yet, lockdowns remain hugely popular, in the UK and elsewhere. What is going on? What strange group phenomenon are we actually watching here? Why are scientists not taking their responsibility to guide their populations more seriously?</a:t>
            </a:r>
            <a:endParaRPr lang="en-AU" dirty="0"/>
          </a:p>
        </p:txBody>
      </p:sp>
    </p:spTree>
    <p:extLst>
      <p:ext uri="{BB962C8B-B14F-4D97-AF65-F5344CB8AC3E}">
        <p14:creationId xmlns:p14="http://schemas.microsoft.com/office/powerpoint/2010/main" val="2767798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37800297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921" y="-49656"/>
            <a:ext cx="10515600" cy="1325563"/>
          </a:xfrm>
        </p:spPr>
        <p:txBody>
          <a:bodyPr/>
          <a:lstStyle/>
          <a:p>
            <a:r>
              <a:rPr lang="en-AU" dirty="0" smtClean="0"/>
              <a:t>Suggested selected reading:</a:t>
            </a:r>
            <a:endParaRPr lang="en-AU" dirty="0"/>
          </a:p>
        </p:txBody>
      </p:sp>
      <p:sp>
        <p:nvSpPr>
          <p:cNvPr id="3" name="Content Placeholder 2"/>
          <p:cNvSpPr>
            <a:spLocks noGrp="1"/>
          </p:cNvSpPr>
          <p:nvPr>
            <p:ph idx="1"/>
          </p:nvPr>
        </p:nvSpPr>
        <p:spPr>
          <a:xfrm>
            <a:off x="233915" y="1275907"/>
            <a:ext cx="11780875" cy="5521842"/>
          </a:xfrm>
        </p:spPr>
        <p:txBody>
          <a:bodyPr>
            <a:normAutofit fontScale="92500" lnSpcReduction="20000"/>
          </a:bodyPr>
          <a:lstStyle/>
          <a:p>
            <a:r>
              <a:rPr lang="en-AU" dirty="0"/>
              <a:t>Adam, D. (2020), Special report: The simulations driving the world’s response to COVID-19, Nature News Feature, </a:t>
            </a:r>
            <a:r>
              <a:rPr lang="en-AU" u="sng" dirty="0">
                <a:hlinkClick r:id="rId2"/>
              </a:rPr>
              <a:t>https://www.nature.com/articles/d41586-020-01003-6</a:t>
            </a:r>
            <a:r>
              <a:rPr lang="en-AU" dirty="0"/>
              <a:t> </a:t>
            </a:r>
          </a:p>
          <a:p>
            <a:r>
              <a:rPr lang="en-AU" dirty="0" smtClean="0"/>
              <a:t>Clark </a:t>
            </a:r>
            <a:r>
              <a:rPr lang="en-AU" dirty="0" smtClean="0"/>
              <a:t>et al. (2019). Origins </a:t>
            </a:r>
            <a:r>
              <a:rPr lang="en-AU" dirty="0"/>
              <a:t>of Happiness. </a:t>
            </a:r>
            <a:r>
              <a:rPr lang="en-AU" dirty="0">
                <a:hlinkClick r:id="rId3"/>
              </a:rPr>
              <a:t>https://</a:t>
            </a:r>
            <a:r>
              <a:rPr lang="en-AU" dirty="0" smtClean="0">
                <a:hlinkClick r:id="rId3"/>
              </a:rPr>
              <a:t>press.princeton.edu/books/hardcover/9780691177892/the-origins-of-happiness</a:t>
            </a:r>
            <a:endParaRPr lang="en-AU" dirty="0" smtClean="0"/>
          </a:p>
          <a:p>
            <a:r>
              <a:rPr lang="en-AU" dirty="0"/>
              <a:t>http://clubtroppo.com.au/2020/03/21/the-corona-dilemma </a:t>
            </a:r>
            <a:endParaRPr lang="en-AU" dirty="0" smtClean="0"/>
          </a:p>
          <a:p>
            <a:r>
              <a:rPr lang="en-AU" dirty="0">
                <a:hlinkClick r:id="rId4"/>
              </a:rPr>
              <a:t>https://clubtroppo.com.au/2020/06/17/what-kind-of-crowd-are-we-now-seeing-the-5-surprises-in-this-pandemic</a:t>
            </a:r>
            <a:r>
              <a:rPr lang="en-AU" dirty="0" smtClean="0">
                <a:hlinkClick r:id="rId4"/>
              </a:rPr>
              <a:t>/</a:t>
            </a:r>
            <a:endParaRPr lang="en-AU" dirty="0" smtClean="0"/>
          </a:p>
          <a:p>
            <a:r>
              <a:rPr lang="en-AU" dirty="0"/>
              <a:t>https://clubtroppo.com.au/2020/06/29/from-being-to-seeming-why-empirical-scientists-failed-in-times-of-covid/</a:t>
            </a:r>
            <a:endParaRPr lang="en-AU" dirty="0"/>
          </a:p>
          <a:p>
            <a:r>
              <a:rPr lang="en-AU" dirty="0" err="1" smtClean="0"/>
              <a:t>Frijters</a:t>
            </a:r>
            <a:r>
              <a:rPr lang="en-AU" dirty="0" smtClean="0"/>
              <a:t>, P., Krekel, C. (2021). Handbook for Wellbeing Policy. Oxford University Press forthcoming. Current version available on request.</a:t>
            </a:r>
          </a:p>
          <a:p>
            <a:r>
              <a:rPr lang="en-AU" dirty="0" err="1" smtClean="0"/>
              <a:t>Frijters</a:t>
            </a:r>
            <a:r>
              <a:rPr lang="en-AU" dirty="0" smtClean="0"/>
              <a:t> et al. The WELLBY, BPP. </a:t>
            </a:r>
            <a:r>
              <a:rPr lang="en-AU" dirty="0">
                <a:hlinkClick r:id="rId5"/>
              </a:rPr>
              <a:t>https://</a:t>
            </a:r>
            <a:r>
              <a:rPr lang="en-AU" dirty="0" smtClean="0">
                <a:hlinkClick r:id="rId5"/>
              </a:rPr>
              <a:t>doi.org/10.1017/bpp.2019.39</a:t>
            </a:r>
            <a:endParaRPr lang="en-AU" dirty="0" smtClean="0"/>
          </a:p>
          <a:p>
            <a:r>
              <a:rPr lang="en-AU" dirty="0"/>
              <a:t>Ioannidis, J. P. (2020) Global perspective of COVID‐19 epidemiology for a full‐cycle pandemic. </a:t>
            </a:r>
            <a:r>
              <a:rPr lang="en-AU" i="1" dirty="0"/>
              <a:t>European Journal of Clinical Investigation</a:t>
            </a:r>
            <a:r>
              <a:rPr lang="en-AU" dirty="0"/>
              <a:t>, e13421</a:t>
            </a:r>
            <a:r>
              <a:rPr lang="en-AU" dirty="0" smtClean="0"/>
              <a:t>.</a:t>
            </a:r>
            <a:endParaRPr lang="en-AU" dirty="0"/>
          </a:p>
        </p:txBody>
      </p:sp>
    </p:spTree>
    <p:extLst>
      <p:ext uri="{BB962C8B-B14F-4D97-AF65-F5344CB8AC3E}">
        <p14:creationId xmlns:p14="http://schemas.microsoft.com/office/powerpoint/2010/main" val="16830637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Additional slides to aid discussions</a:t>
            </a:r>
            <a:endParaRPr lang="en-AU" dirty="0"/>
          </a:p>
        </p:txBody>
      </p:sp>
      <p:sp>
        <p:nvSpPr>
          <p:cNvPr id="3" name="Content Placeholder 2"/>
          <p:cNvSpPr>
            <a:spLocks noGrp="1"/>
          </p:cNvSpPr>
          <p:nvPr>
            <p:ph idx="1"/>
          </p:nvPr>
        </p:nvSpPr>
        <p:spPr/>
        <p:txBody>
          <a:bodyPr/>
          <a:lstStyle/>
          <a:p>
            <a:r>
              <a:rPr lang="en-AU" dirty="0" smtClean="0"/>
              <a:t>Details on the presumed UK scenario</a:t>
            </a:r>
          </a:p>
          <a:p>
            <a:r>
              <a:rPr lang="en-AU" dirty="0" smtClean="0"/>
              <a:t>Additional calculation on UK children: the loss of disrupted education.</a:t>
            </a:r>
          </a:p>
          <a:p>
            <a:r>
              <a:rPr lang="en-AU" dirty="0" smtClean="0"/>
              <a:t>Some background information on wellbeing cost-effectiveness.</a:t>
            </a:r>
            <a:endParaRPr lang="en-AU" dirty="0"/>
          </a:p>
        </p:txBody>
      </p:sp>
    </p:spTree>
    <p:extLst>
      <p:ext uri="{BB962C8B-B14F-4D97-AF65-F5344CB8AC3E}">
        <p14:creationId xmlns:p14="http://schemas.microsoft.com/office/powerpoint/2010/main" val="18640831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7627" y="181303"/>
            <a:ext cx="11218682" cy="832079"/>
          </a:xfrm>
        </p:spPr>
        <p:txBody>
          <a:bodyPr/>
          <a:lstStyle/>
          <a:p>
            <a:r>
              <a:rPr lang="en-AU" dirty="0" smtClean="0"/>
              <a:t>C-B on a month of lock downs in UK?</a:t>
            </a:r>
            <a:endParaRPr lang="en-AU" dirty="0"/>
          </a:p>
        </p:txBody>
      </p:sp>
      <p:sp>
        <p:nvSpPr>
          <p:cNvPr id="3" name="Content Placeholder 2"/>
          <p:cNvSpPr>
            <a:spLocks noGrp="1"/>
          </p:cNvSpPr>
          <p:nvPr>
            <p:ph idx="1"/>
          </p:nvPr>
        </p:nvSpPr>
        <p:spPr>
          <a:xfrm>
            <a:off x="131975" y="1107649"/>
            <a:ext cx="11934334" cy="5613662"/>
          </a:xfrm>
        </p:spPr>
        <p:txBody>
          <a:bodyPr>
            <a:normAutofit lnSpcReduction="10000"/>
          </a:bodyPr>
          <a:lstStyle/>
          <a:p>
            <a:r>
              <a:rPr lang="en-AU" dirty="0" smtClean="0"/>
              <a:t>Here one must make a stand on how many corona virus deaths are saved by continued lock downs in UK for another month versus a counterfactual in which the borders are fully opened and the virus can spread.</a:t>
            </a:r>
          </a:p>
          <a:p>
            <a:endParaRPr lang="en-AU" dirty="0"/>
          </a:p>
          <a:p>
            <a:r>
              <a:rPr lang="en-AU" dirty="0" smtClean="0"/>
              <a:t>This is an epidemiological questions on which honest opinions differ. Some say lock downs made no difference and so the answer would be “a few hundred”. Others say 0.2% of the population could be saved so the answer would be “120,000 if we have full open borders”. Yet others say “something else would have few deaths as well” (apps, targeted isolation, quarantines, etc.). </a:t>
            </a:r>
          </a:p>
          <a:p>
            <a:endParaRPr lang="en-AU" dirty="0" smtClean="0"/>
          </a:p>
          <a:p>
            <a:r>
              <a:rPr lang="en-AU" dirty="0" smtClean="0"/>
              <a:t>Since the social and economic effects are large of most forms of inhibited movement and continued fear, the most relevant options are “continued fear and thus continued isolation policies for at least half the population” versus “shrug shoulders”. </a:t>
            </a:r>
          </a:p>
        </p:txBody>
      </p:sp>
    </p:spTree>
    <p:extLst>
      <p:ext uri="{BB962C8B-B14F-4D97-AF65-F5344CB8AC3E}">
        <p14:creationId xmlns:p14="http://schemas.microsoft.com/office/powerpoint/2010/main" val="7034389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3358" y="1027906"/>
            <a:ext cx="11020720" cy="5830094"/>
          </a:xfrm>
        </p:spPr>
        <p:txBody>
          <a:bodyPr>
            <a:normAutofit fontScale="85000" lnSpcReduction="20000"/>
          </a:bodyPr>
          <a:lstStyle/>
          <a:p>
            <a:r>
              <a:rPr lang="en-AU" dirty="0" smtClean="0"/>
              <a:t>Continued Lockdown equals</a:t>
            </a:r>
          </a:p>
          <a:p>
            <a:pPr lvl="1"/>
            <a:r>
              <a:rPr lang="en-AU" dirty="0" smtClean="0"/>
              <a:t>Continued </a:t>
            </a:r>
            <a:r>
              <a:rPr lang="en-AU" dirty="0"/>
              <a:t>fear, half the population locked </a:t>
            </a:r>
            <a:r>
              <a:rPr lang="en-AU" dirty="0" smtClean="0"/>
              <a:t>up (over and above the number of unemployed), no </a:t>
            </a:r>
            <a:r>
              <a:rPr lang="en-AU" dirty="0"/>
              <a:t>economic </a:t>
            </a:r>
            <a:r>
              <a:rPr lang="en-AU" dirty="0" smtClean="0"/>
              <a:t>recovery but a </a:t>
            </a:r>
            <a:r>
              <a:rPr lang="en-AU" dirty="0" err="1" smtClean="0"/>
              <a:t>flatlined</a:t>
            </a:r>
            <a:r>
              <a:rPr lang="en-AU" dirty="0" smtClean="0"/>
              <a:t> number of unemployment equal to 3 million above normal rates. [note one can use several numbers for the added unemployed]</a:t>
            </a:r>
          </a:p>
          <a:p>
            <a:pPr lvl="1"/>
            <a:r>
              <a:rPr lang="en-AU" dirty="0" smtClean="0"/>
              <a:t>Why </a:t>
            </a:r>
            <a:r>
              <a:rPr lang="en-AU" dirty="0" err="1" smtClean="0"/>
              <a:t>flatlined</a:t>
            </a:r>
            <a:r>
              <a:rPr lang="en-AU" dirty="0" smtClean="0"/>
              <a:t> economy? Tourism, students, property markets, hands-on services, international business, etc., continues to be very difficult and impaired. So no return of hospitality jobs, etc. </a:t>
            </a:r>
          </a:p>
          <a:p>
            <a:pPr lvl="1"/>
            <a:r>
              <a:rPr lang="en-AU" dirty="0"/>
              <a:t>GDP down 20</a:t>
            </a:r>
            <a:r>
              <a:rPr lang="en-AU" dirty="0" smtClean="0"/>
              <a:t>% during lock down </a:t>
            </a:r>
            <a:r>
              <a:rPr lang="en-AU" dirty="0"/>
              <a:t>= </a:t>
            </a:r>
            <a:r>
              <a:rPr lang="en-AU" dirty="0" smtClean="0"/>
              <a:t>440 </a:t>
            </a:r>
            <a:r>
              <a:rPr lang="en-AU" dirty="0"/>
              <a:t>billion </a:t>
            </a:r>
            <a:r>
              <a:rPr lang="en-AU" dirty="0" smtClean="0"/>
              <a:t>pounds </a:t>
            </a:r>
            <a:r>
              <a:rPr lang="en-AU" dirty="0"/>
              <a:t>per year = </a:t>
            </a:r>
            <a:r>
              <a:rPr lang="en-AU" dirty="0" smtClean="0"/>
              <a:t>176 </a:t>
            </a:r>
            <a:r>
              <a:rPr lang="en-AU" dirty="0"/>
              <a:t>billion less government expenditure per year = </a:t>
            </a:r>
            <a:r>
              <a:rPr lang="en-AU" dirty="0" smtClean="0"/>
              <a:t>14.7 </a:t>
            </a:r>
            <a:r>
              <a:rPr lang="en-AU" dirty="0"/>
              <a:t>billion less per month.</a:t>
            </a:r>
          </a:p>
          <a:p>
            <a:pPr lvl="1"/>
            <a:endParaRPr lang="en-AU" dirty="0" smtClean="0"/>
          </a:p>
          <a:p>
            <a:pPr lvl="1"/>
            <a:endParaRPr lang="en-AU" dirty="0" smtClean="0"/>
          </a:p>
          <a:p>
            <a:r>
              <a:rPr lang="en-AU" dirty="0" smtClean="0"/>
              <a:t>Focussed protection </a:t>
            </a:r>
            <a:r>
              <a:rPr lang="en-AU" dirty="0" smtClean="0"/>
              <a:t>equals</a:t>
            </a:r>
          </a:p>
          <a:p>
            <a:pPr lvl="1"/>
            <a:r>
              <a:rPr lang="en-AU" dirty="0" smtClean="0"/>
              <a:t>Between a 100 and 10,000 additional </a:t>
            </a:r>
            <a:r>
              <a:rPr lang="en-AU" dirty="0" err="1" smtClean="0"/>
              <a:t>covid</a:t>
            </a:r>
            <a:r>
              <a:rPr lang="en-AU" dirty="0" smtClean="0"/>
              <a:t> deaths per month (so maximum costs smeared out over 12 months). </a:t>
            </a:r>
          </a:p>
          <a:p>
            <a:pPr lvl="1"/>
            <a:r>
              <a:rPr lang="en-AU" dirty="0" smtClean="0"/>
              <a:t>No social isolation costs. 2,000 IVF babies per month. Economic recovery starts so we get back to normal GDP and normal unemployment one month sooner than under continued lockdown.  </a:t>
            </a:r>
          </a:p>
          <a:p>
            <a:pPr lvl="1"/>
            <a:endParaRPr lang="en-AU" dirty="0"/>
          </a:p>
          <a:p>
            <a:r>
              <a:rPr lang="en-AU" dirty="0" smtClean="0"/>
              <a:t>So the comparison here is between “continued repression that involves ongoing but not increasing misery” versus “recovery to normality but with more </a:t>
            </a:r>
            <a:r>
              <a:rPr lang="en-AU" dirty="0" err="1" smtClean="0"/>
              <a:t>covid</a:t>
            </a:r>
            <a:r>
              <a:rPr lang="en-AU" dirty="0" smtClean="0"/>
              <a:t> death”.</a:t>
            </a:r>
          </a:p>
          <a:p>
            <a:r>
              <a:rPr lang="en-AU" dirty="0" smtClean="0"/>
              <a:t>You may want to think of other scenarios. The point here is illustration of how to do these calculations using a semi-realistic scenario.</a:t>
            </a:r>
            <a:endParaRPr lang="en-AU" dirty="0"/>
          </a:p>
          <a:p>
            <a:endParaRPr lang="en-AU" dirty="0"/>
          </a:p>
        </p:txBody>
      </p:sp>
    </p:spTree>
    <p:extLst>
      <p:ext uri="{BB962C8B-B14F-4D97-AF65-F5344CB8AC3E}">
        <p14:creationId xmlns:p14="http://schemas.microsoft.com/office/powerpoint/2010/main" val="34479080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888" y="237534"/>
            <a:ext cx="11126972" cy="1325563"/>
          </a:xfrm>
        </p:spPr>
        <p:txBody>
          <a:bodyPr/>
          <a:lstStyle/>
          <a:p>
            <a:r>
              <a:rPr lang="en-AU" dirty="0" smtClean="0"/>
              <a:t>The cost to children from disrupted schooling?</a:t>
            </a:r>
            <a:endParaRPr lang="en-AU" dirty="0"/>
          </a:p>
        </p:txBody>
      </p:sp>
      <p:sp>
        <p:nvSpPr>
          <p:cNvPr id="3" name="Content Placeholder 2"/>
          <p:cNvSpPr>
            <a:spLocks noGrp="1"/>
          </p:cNvSpPr>
          <p:nvPr>
            <p:ph idx="1"/>
          </p:nvPr>
        </p:nvSpPr>
        <p:spPr>
          <a:xfrm>
            <a:off x="682256" y="1563097"/>
            <a:ext cx="11126972" cy="5163768"/>
          </a:xfrm>
        </p:spPr>
        <p:txBody>
          <a:bodyPr>
            <a:normAutofit fontScale="92500" lnSpcReduction="20000"/>
          </a:bodyPr>
          <a:lstStyle/>
          <a:p>
            <a:r>
              <a:rPr lang="en-AU" dirty="0" smtClean="0"/>
              <a:t>If we accept that the returns to a year of education are 6% (basically the mainstream estimate), and that human capital earns about 50% of GDP, and that the at-school cohort is 14% of the population, then one loses 6*0.5*0.14/12=0.035% of discounted GDP for the next 40 years. Per month of school disruption. </a:t>
            </a:r>
          </a:p>
          <a:p>
            <a:r>
              <a:rPr lang="en-AU" dirty="0" smtClean="0"/>
              <a:t> With an economy of 2.2. trillion pounds and a net real discount rate of 2.5%, that is a loss of 20 Billion pounds future GDP. </a:t>
            </a:r>
          </a:p>
          <a:p>
            <a:r>
              <a:rPr lang="en-AU" dirty="0" smtClean="0"/>
              <a:t>One month of lock down does not mean 100% no schooling in that month though. The loss should thus be the proportion of schooling lost due to lock downs times 20 billion. </a:t>
            </a:r>
          </a:p>
          <a:p>
            <a:r>
              <a:rPr lang="en-AU" dirty="0" smtClean="0"/>
              <a:t>Note that the misery of the children from being locked down is part of the 0.5 WELLBY loss from the lock downs.</a:t>
            </a:r>
          </a:p>
          <a:p>
            <a:endParaRPr lang="en-AU" dirty="0" smtClean="0"/>
          </a:p>
          <a:p>
            <a:r>
              <a:rPr lang="en-AU" dirty="0" smtClean="0"/>
              <a:t>This assumes no knock-on loss (such as via scarring and mental health problems that prevent future learning), but also no catch-up. </a:t>
            </a:r>
            <a:endParaRPr lang="en-AU" dirty="0"/>
          </a:p>
        </p:txBody>
      </p:sp>
    </p:spTree>
    <p:extLst>
      <p:ext uri="{BB962C8B-B14F-4D97-AF65-F5344CB8AC3E}">
        <p14:creationId xmlns:p14="http://schemas.microsoft.com/office/powerpoint/2010/main" val="26841467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8914970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Wellbeing </a:t>
            </a:r>
            <a:r>
              <a:rPr lang="en-GB" altLang="en-US" dirty="0" smtClean="0"/>
              <a:t>Cost-Effectiveness</a:t>
            </a:r>
            <a:endParaRPr lang="en-GB" dirty="0"/>
          </a:p>
        </p:txBody>
      </p:sp>
      <p:sp>
        <p:nvSpPr>
          <p:cNvPr id="3" name="Content Placeholder 2"/>
          <p:cNvSpPr>
            <a:spLocks noGrp="1"/>
          </p:cNvSpPr>
          <p:nvPr>
            <p:ph idx="1"/>
          </p:nvPr>
        </p:nvSpPr>
        <p:spPr/>
        <p:txBody>
          <a:bodyPr/>
          <a:lstStyle/>
          <a:p>
            <a:endParaRPr lang="en-GB" dirty="0"/>
          </a:p>
          <a:p>
            <a:endParaRPr lang="en-GB" dirty="0"/>
          </a:p>
          <a:p>
            <a:endParaRPr lang="en-GB" dirty="0"/>
          </a:p>
          <a:p>
            <a:endParaRPr lang="en-GB" dirty="0"/>
          </a:p>
          <a:p>
            <a:r>
              <a:rPr lang="en-GB" dirty="0">
                <a:solidFill>
                  <a:srgbClr val="FF0000"/>
                </a:solidFill>
              </a:rPr>
              <a:t>Public cost </a:t>
            </a:r>
            <a:r>
              <a:rPr lang="en-GB" dirty="0"/>
              <a:t>– the whole of government net costs</a:t>
            </a:r>
          </a:p>
          <a:p>
            <a:r>
              <a:rPr lang="en-GB" dirty="0">
                <a:solidFill>
                  <a:srgbClr val="FF0000"/>
                </a:solidFill>
              </a:rPr>
              <a:t>Net Benefit </a:t>
            </a:r>
            <a:r>
              <a:rPr lang="en-GB" dirty="0"/>
              <a:t>– benefit in terms of a WELLBY: an additional unit of Life Satisfaction for one person for one year </a:t>
            </a:r>
          </a:p>
          <a:p>
            <a:endParaRPr lang="en-GB" dirty="0"/>
          </a:p>
        </p:txBody>
      </p:sp>
      <p:pic>
        <p:nvPicPr>
          <p:cNvPr id="6" name="Picture 5"/>
          <p:cNvPicPr>
            <a:picLocks noChangeAspect="1"/>
          </p:cNvPicPr>
          <p:nvPr/>
        </p:nvPicPr>
        <p:blipFill rotWithShape="1">
          <a:blip r:embed="rId3"/>
          <a:srcRect l="36953" t="18056" r="43672" b="71250"/>
          <a:stretch/>
        </p:blipFill>
        <p:spPr>
          <a:xfrm>
            <a:off x="4295774" y="2120901"/>
            <a:ext cx="3788477" cy="1176260"/>
          </a:xfrm>
          <a:prstGeom prst="rect">
            <a:avLst/>
          </a:prstGeom>
        </p:spPr>
      </p:pic>
    </p:spTree>
    <p:extLst>
      <p:ext uri="{BB962C8B-B14F-4D97-AF65-F5344CB8AC3E}">
        <p14:creationId xmlns:p14="http://schemas.microsoft.com/office/powerpoint/2010/main" val="30106133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676400" y="152400"/>
            <a:ext cx="9739460" cy="533400"/>
          </a:xfrm>
        </p:spPr>
        <p:txBody>
          <a:bodyPr>
            <a:normAutofit fontScale="90000"/>
          </a:bodyPr>
          <a:lstStyle/>
          <a:p>
            <a:r>
              <a:rPr lang="en-AU" altLang="en-US" dirty="0" smtClean="0"/>
              <a:t>Cost-effectiveness of some low-hanging fruit…</a:t>
            </a:r>
          </a:p>
        </p:txBody>
      </p:sp>
      <p:pic>
        <p:nvPicPr>
          <p:cNvPr id="18435" name="Content Placeholder 6"/>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752600" y="1066801"/>
            <a:ext cx="8991600" cy="4435475"/>
          </a:xfrm>
        </p:spPr>
      </p:pic>
      <p:sp>
        <p:nvSpPr>
          <p:cNvPr id="18436" name="Rectangle 5"/>
          <p:cNvSpPr>
            <a:spLocks noChangeArrowheads="1"/>
          </p:cNvSpPr>
          <p:nvPr/>
        </p:nvSpPr>
        <p:spPr bwMode="auto">
          <a:xfrm>
            <a:off x="3771900" y="5068889"/>
            <a:ext cx="4572000"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07000"/>
              </a:lnSpc>
              <a:spcAft>
                <a:spcPts val="600"/>
              </a:spcAft>
            </a:pPr>
            <a:r>
              <a:rPr lang="en-GB" altLang="en-US" b="1">
                <a:solidFill>
                  <a:srgbClr val="222222"/>
                </a:solidFill>
                <a:latin typeface="Calibri" panose="020F0502020204030204" pitchFamily="34" charset="0"/>
                <a:ea typeface="Times New Roman" panose="02020603050405020304" pitchFamily="18" charset="0"/>
                <a:cs typeface="Calibri" panose="020F0502020204030204" pitchFamily="34" charset="0"/>
              </a:rPr>
              <a:t>Figure 1: Cost per WELLBY of interventions at work, in the environment, and government services.</a:t>
            </a:r>
            <a:endParaRPr lang="en-AU" altLang="en-US" sz="20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966782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137" y="1297172"/>
            <a:ext cx="13473802" cy="6130114"/>
          </a:xfrm>
        </p:spPr>
      </p:pic>
      <p:sp>
        <p:nvSpPr>
          <p:cNvPr id="2" name="Title 1"/>
          <p:cNvSpPr>
            <a:spLocks noGrp="1"/>
          </p:cNvSpPr>
          <p:nvPr>
            <p:ph type="title"/>
          </p:nvPr>
        </p:nvSpPr>
        <p:spPr>
          <a:xfrm>
            <a:off x="0" y="5649432"/>
            <a:ext cx="12121116" cy="1325563"/>
          </a:xfrm>
        </p:spPr>
        <p:txBody>
          <a:bodyPr>
            <a:normAutofit/>
          </a:bodyPr>
          <a:lstStyle/>
          <a:p>
            <a:r>
              <a:rPr lang="en-AU" sz="4000" dirty="0" smtClean="0"/>
              <a:t>Excess deaths UK till end week 44 of 2020 (euromomo.eu)</a:t>
            </a:r>
            <a:endParaRPr lang="en-AU" sz="4000" dirty="0"/>
          </a:p>
        </p:txBody>
      </p:sp>
    </p:spTree>
    <p:extLst>
      <p:ext uri="{BB962C8B-B14F-4D97-AF65-F5344CB8AC3E}">
        <p14:creationId xmlns:p14="http://schemas.microsoft.com/office/powerpoint/2010/main" val="3937150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13602</TotalTime>
  <Words>5408</Words>
  <Application>Microsoft Office PowerPoint</Application>
  <PresentationFormat>Widescreen</PresentationFormat>
  <Paragraphs>507</Paragraphs>
  <Slides>61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Arial</vt:lpstr>
      <vt:lpstr>Calibri</vt:lpstr>
      <vt:lpstr>Calibri Light</vt:lpstr>
      <vt:lpstr>Times New Roman</vt:lpstr>
      <vt:lpstr>Office Theme</vt:lpstr>
      <vt:lpstr>Wellbeing Economics and Tradeoffs During the Covid-19 Pandemic.</vt:lpstr>
      <vt:lpstr>Pandemics that were  Terrible</vt:lpstr>
      <vt:lpstr>Pandemics that weren’t </vt:lpstr>
      <vt:lpstr>Excess mortality deaths in 24 European countries</vt:lpstr>
      <vt:lpstr>Quick look at UK covid death tolls</vt:lpstr>
      <vt:lpstr>Current relevance for the UK</vt:lpstr>
      <vt:lpstr>Some sense of scale of other effects.</vt:lpstr>
      <vt:lpstr>Which of these are also in marginal effects (ie due to local policies)? And which are largely global?</vt:lpstr>
      <vt:lpstr>PowerPoint Presentation</vt:lpstr>
      <vt:lpstr>Basic covid-scenarios</vt:lpstr>
      <vt:lpstr>So to save us from one form of misery via lock downs, we are getting another….</vt:lpstr>
      <vt:lpstr>To prevent more of these</vt:lpstr>
      <vt:lpstr>We are creating many more of these</vt:lpstr>
      <vt:lpstr>And these</vt:lpstr>
      <vt:lpstr>And these</vt:lpstr>
      <vt:lpstr>And these</vt:lpstr>
      <vt:lpstr>And these</vt:lpstr>
      <vt:lpstr>The point?</vt:lpstr>
      <vt:lpstr>How to line up the costs and benefits in these different domains?</vt:lpstr>
      <vt:lpstr>What common metric to use in Cost-Benefit?</vt:lpstr>
      <vt:lpstr>The UK life-satisfaction question (“ONS4”)</vt:lpstr>
      <vt:lpstr>The WELLBY</vt:lpstr>
      <vt:lpstr>Two cost-benefit questions</vt:lpstr>
      <vt:lpstr>To do these calculations we need several numbers:</vt:lpstr>
      <vt:lpstr>PowerPoint Presentation</vt:lpstr>
      <vt:lpstr>PowerPoint Presentation</vt:lpstr>
      <vt:lpstr>Humorous notes</vt:lpstr>
      <vt:lpstr>Imperial college data…</vt:lpstr>
      <vt:lpstr>PowerPoint Presentation</vt:lpstr>
      <vt:lpstr>Meaning</vt:lpstr>
      <vt:lpstr>Quick calculation</vt:lpstr>
      <vt:lpstr>Length of life of covid-death</vt:lpstr>
      <vt:lpstr>Andrew Briggs on covid in the UK.</vt:lpstr>
      <vt:lpstr>Second Crucial tradeoff number</vt:lpstr>
      <vt:lpstr>Implication for the UK</vt:lpstr>
      <vt:lpstr>And for the world?</vt:lpstr>
      <vt:lpstr>Third tradeoff number: costs of social isolation.</vt:lpstr>
      <vt:lpstr>Fourth tradeoff number: cost of unemployment</vt:lpstr>
      <vt:lpstr>On unemployment:</vt:lpstr>
      <vt:lpstr>PowerPoint Presentation</vt:lpstr>
      <vt:lpstr>Other tradeoff numbers</vt:lpstr>
      <vt:lpstr>Effect of loss of IVF babies</vt:lpstr>
      <vt:lpstr>Bringing it together: scenarios</vt:lpstr>
      <vt:lpstr>CBA1: All of humanitys’ reaction</vt:lpstr>
      <vt:lpstr>Costs of all the reactions</vt:lpstr>
      <vt:lpstr>CBA2: policies in the UK?</vt:lpstr>
      <vt:lpstr> Costs per month of delayed recovery with relatively light restrictions </vt:lpstr>
      <vt:lpstr>Benefits of continued lock downs.</vt:lpstr>
      <vt:lpstr>Important to note</vt:lpstr>
      <vt:lpstr>Conclusion</vt:lpstr>
      <vt:lpstr>Reflections</vt:lpstr>
      <vt:lpstr>PowerPoint Presentation</vt:lpstr>
      <vt:lpstr>Suggested selected reading:</vt:lpstr>
      <vt:lpstr>Additional slides to aid discussions</vt:lpstr>
      <vt:lpstr>C-B on a month of lock downs in UK?</vt:lpstr>
      <vt:lpstr>PowerPoint Presentation</vt:lpstr>
      <vt:lpstr>The cost to children from disrupted schooling?</vt:lpstr>
      <vt:lpstr>PowerPoint Presentation</vt:lpstr>
      <vt:lpstr>Wellbeing Cost-Effectiveness</vt:lpstr>
      <vt:lpstr>Cost-effectiveness of some low-hanging fruit…</vt:lpstr>
      <vt:lpstr>Excess deaths UK till end week 44 of 2020 (euromomo.eu)</vt:lpstr>
    </vt:vector>
  </TitlesOfParts>
  <Company>University of Surrey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Oparina, Katya (PG/R - Economics)</dc:creator>
  <cp:lastModifiedBy>Paul</cp:lastModifiedBy>
  <cp:revision>243</cp:revision>
  <dcterms:created xsi:type="dcterms:W3CDTF">2019-08-06T11:21:21Z</dcterms:created>
  <dcterms:modified xsi:type="dcterms:W3CDTF">2020-11-03T16:09:25Z</dcterms:modified>
</cp:coreProperties>
</file>